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88952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ESTRATEGIA DE MARKETING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DD4BF"/>
                </a:solidFill>
              </a:rPr>
              <a:t>Villa Las Terrenas  ·  Dominican Republic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546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F0E8"/>
                </a:solidFill>
              </a:rPr>
              <a:t>Plan Ejecutivo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61872"/>
            <a:ext cx="12188952" cy="5029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OBJETIVO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645920"/>
            <a:ext cx="9966960" cy="2926080"/>
          </a:xfrm>
          <a:prstGeom prst="rect">
            <a:avLst/>
          </a:prstGeom>
          <a:solidFill>
            <a:srgbClr val="10283A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1920240"/>
            <a:ext cx="9052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Llenar el calendario de reservas
de Villa Las Terrenas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3246120"/>
            <a:ext cx="9052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F5F0E8"/>
                </a:solidFill>
              </a:rPr>
              <a:t>Mediante presencia digital propia + OTAs + campañas de pago,
construyendo una marca reconocible que genere reservas directas recurrentes.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892040"/>
            <a:ext cx="2560320" cy="960120"/>
          </a:xfrm>
          <a:prstGeom prst="rect">
            <a:avLst/>
          </a:prstGeom>
          <a:solidFill>
            <a:srgbClr val="052232"/>
          </a:solidFill>
          <a:ln w="1016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95604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DD4BF"/>
                </a:solidFill>
              </a:rPr>
              <a:t>Visitas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2578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500+/mes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6160" y="4892040"/>
            <a:ext cx="2560320" cy="960120"/>
          </a:xfrm>
          <a:prstGeom prst="rect">
            <a:avLst/>
          </a:prstGeom>
          <a:solidFill>
            <a:srgbClr val="052232"/>
          </a:solidFill>
          <a:ln w="1016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495604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DD4BF"/>
                </a:solidFill>
              </a:rPr>
              <a:t>Leads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52578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&gt;2% conversión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4892040"/>
            <a:ext cx="2560320" cy="960120"/>
          </a:xfrm>
          <a:prstGeom prst="rect">
            <a:avLst/>
          </a:prstGeom>
          <a:solidFill>
            <a:srgbClr val="052232"/>
          </a:solidFill>
          <a:ln w="1016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95604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DD4BF"/>
                </a:solidFill>
              </a:rPr>
              <a:t>CPL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52578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&lt; 15 €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40" y="4892040"/>
            <a:ext cx="2560320" cy="960120"/>
          </a:xfrm>
          <a:prstGeom prst="rect">
            <a:avLst/>
          </a:prstGeom>
          <a:solidFill>
            <a:srgbClr val="052232"/>
          </a:solidFill>
          <a:ln w="1016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495604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DD4BF"/>
                </a:solidFill>
              </a:rPr>
              <a:t>ROAS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52578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&gt; 3x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61872"/>
            <a:ext cx="12188952" cy="5029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PLAN EN 5 FASES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658368" cy="74980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545336"/>
            <a:ext cx="6583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D1B2A"/>
                </a:solidFill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1115568" y="1417320"/>
            <a:ext cx="10698480" cy="749808"/>
          </a:xfrm>
          <a:prstGeom prst="rect">
            <a:avLst/>
          </a:prstGeom>
          <a:solidFill>
            <a:srgbClr val="10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61872" y="149047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D4BF"/>
                </a:solidFill>
              </a:rPr>
              <a:t>INFRAESTRUCTURA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1819656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5F0E8"/>
                </a:solidFill>
              </a:rPr>
              <a:t>Tracking y analítica antes de lanzar</a:t>
            </a:r>
          </a:p>
        </p:txBody>
      </p:sp>
      <p:sp>
        <p:nvSpPr>
          <p:cNvPr id="10" name="Oval 9"/>
          <p:cNvSpPr/>
          <p:nvPr/>
        </p:nvSpPr>
        <p:spPr>
          <a:xfrm>
            <a:off x="1069848" y="1719072"/>
            <a:ext cx="109728" cy="109728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2404872"/>
            <a:ext cx="658368" cy="749808"/>
          </a:xfrm>
          <a:prstGeom prst="rect">
            <a:avLst/>
          </a:prstGeom>
          <a:solidFill>
            <a:srgbClr val="34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532888"/>
            <a:ext cx="6583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D1B2A"/>
                </a:solidFill>
              </a:rPr>
              <a:t>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15568" y="2404872"/>
            <a:ext cx="10698480" cy="749808"/>
          </a:xfrm>
          <a:prstGeom prst="rect">
            <a:avLst/>
          </a:prstGeom>
          <a:solidFill>
            <a:srgbClr val="10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247802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9AFF"/>
                </a:solidFill>
              </a:rPr>
              <a:t>PRESENCIA ORGÁNICA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280720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5F0E8"/>
                </a:solidFill>
              </a:rPr>
              <a:t>Redes sociales y comunidad</a:t>
            </a:r>
          </a:p>
        </p:txBody>
      </p:sp>
      <p:sp>
        <p:nvSpPr>
          <p:cNvPr id="16" name="Oval 15"/>
          <p:cNvSpPr/>
          <p:nvPr/>
        </p:nvSpPr>
        <p:spPr>
          <a:xfrm>
            <a:off x="1069848" y="2706624"/>
            <a:ext cx="109728" cy="109728"/>
          </a:xfrm>
          <a:prstGeom prst="ellipse">
            <a:avLst/>
          </a:prstGeom>
          <a:solidFill>
            <a:srgbClr val="34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392424"/>
            <a:ext cx="658368" cy="74980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520440"/>
            <a:ext cx="6583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D1B2A"/>
                </a:solidFill>
              </a:rPr>
              <a:t>03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15568" y="3392424"/>
            <a:ext cx="10698480" cy="749808"/>
          </a:xfrm>
          <a:prstGeom prst="rect">
            <a:avLst/>
          </a:prstGeom>
          <a:solidFill>
            <a:srgbClr val="10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61872" y="346557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8C42"/>
                </a:solidFill>
              </a:rPr>
              <a:t>META ADS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1872" y="379476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5F0E8"/>
                </a:solidFill>
              </a:rPr>
              <a:t>Instagram y Facebook de pago</a:t>
            </a:r>
          </a:p>
        </p:txBody>
      </p:sp>
      <p:sp>
        <p:nvSpPr>
          <p:cNvPr id="22" name="Oval 21"/>
          <p:cNvSpPr/>
          <p:nvPr/>
        </p:nvSpPr>
        <p:spPr>
          <a:xfrm>
            <a:off x="1069848" y="3694176"/>
            <a:ext cx="109728" cy="109728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4379976"/>
            <a:ext cx="658368" cy="74980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4507992"/>
            <a:ext cx="6583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D1B2A"/>
                </a:solidFill>
              </a:rPr>
              <a:t>04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15568" y="4379976"/>
            <a:ext cx="10698480" cy="749808"/>
          </a:xfrm>
          <a:prstGeom prst="rect">
            <a:avLst/>
          </a:prstGeom>
          <a:solidFill>
            <a:srgbClr val="10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61872" y="445312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GOOGLE ADS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61872" y="4782312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5F0E8"/>
                </a:solidFill>
              </a:rPr>
              <a:t>Captar intención de búsqueda</a:t>
            </a:r>
          </a:p>
        </p:txBody>
      </p:sp>
      <p:sp>
        <p:nvSpPr>
          <p:cNvPr id="28" name="Oval 27"/>
          <p:cNvSpPr/>
          <p:nvPr/>
        </p:nvSpPr>
        <p:spPr>
          <a:xfrm>
            <a:off x="1069848" y="4681728"/>
            <a:ext cx="109728" cy="10972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5367528"/>
            <a:ext cx="658368" cy="749808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5495544"/>
            <a:ext cx="6583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D1B2A"/>
                </a:solidFill>
              </a:rPr>
              <a:t>05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15568" y="5367528"/>
            <a:ext cx="10698480" cy="749808"/>
          </a:xfrm>
          <a:prstGeom prst="rect">
            <a:avLst/>
          </a:prstGeom>
          <a:solidFill>
            <a:srgbClr val="10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61872" y="544068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5A5F"/>
                </a:solidFill>
              </a:rPr>
              <a:t>AIRBNB &amp; OTAs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61872" y="5769864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5F0E8"/>
                </a:solidFill>
              </a:rPr>
              <a:t>Visibilidad en plataformas globales</a:t>
            </a:r>
          </a:p>
        </p:txBody>
      </p:sp>
      <p:sp>
        <p:nvSpPr>
          <p:cNvPr id="34" name="Oval 33"/>
          <p:cNvSpPr/>
          <p:nvPr/>
        </p:nvSpPr>
        <p:spPr>
          <a:xfrm>
            <a:off x="1069848" y="5669280"/>
            <a:ext cx="109728" cy="109728"/>
          </a:xfrm>
          <a:prstGeom prst="ellipse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61872"/>
            <a:ext cx="12188952" cy="5029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FASE 01  —  INFRAESTRUCTURA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01168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2DD4BF"/>
                </a:solidFill>
              </a:rPr>
              <a:t>Semana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5577840" cy="2057400"/>
          </a:xfrm>
          <a:prstGeom prst="rect">
            <a:avLst/>
          </a:prstGeom>
          <a:solidFill>
            <a:srgbClr val="10283A"/>
          </a:solidFill>
          <a:ln w="1016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69163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D4BF"/>
                </a:solidFill>
              </a:rPr>
              <a:t>Google Analytics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167128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5F0E8"/>
                </a:solidFill>
              </a:rPr>
              <a:t>Medimos cada visita: de dónde viene, cuánto tiempo se queda, qué hace.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508760"/>
            <a:ext cx="5577840" cy="2057400"/>
          </a:xfrm>
          <a:prstGeom prst="rect">
            <a:avLst/>
          </a:prstGeom>
          <a:solidFill>
            <a:srgbClr val="10283A"/>
          </a:solidFill>
          <a:ln w="1016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169163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D4BF"/>
                </a:solidFill>
              </a:rPr>
              <a:t>Meta Pixel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528" y="2167128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5F0E8"/>
                </a:solidFill>
              </a:rPr>
              <a:t>Identifica a cada visitante para poder impactarle después en Instagram y Facebook.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840479"/>
            <a:ext cx="5577840" cy="2057400"/>
          </a:xfrm>
          <a:prstGeom prst="rect">
            <a:avLst/>
          </a:prstGeom>
          <a:solidFill>
            <a:srgbClr val="10283A"/>
          </a:solidFill>
          <a:ln w="1016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402335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D4BF"/>
                </a:solidFill>
              </a:rPr>
              <a:t>Google Tag Manager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498847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5F0E8"/>
                </a:solidFill>
              </a:rPr>
              <a:t>Gestión centralizada de todos los píxeles sin tocar código.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3840479"/>
            <a:ext cx="5577840" cy="2057400"/>
          </a:xfrm>
          <a:prstGeom prst="rect">
            <a:avLst/>
          </a:prstGeom>
          <a:solidFill>
            <a:srgbClr val="10283A"/>
          </a:solidFill>
          <a:ln w="1016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0528" y="402335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D4BF"/>
                </a:solidFill>
              </a:rPr>
              <a:t>Evento de conversión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0528" y="4498847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5F0E8"/>
                </a:solidFill>
              </a:rPr>
              <a:t>Cada vez que alguien envía el formulario → se registra como Lead en todos los sistemas.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2DD4BF"/>
                </a:solidFill>
              </a:rPr>
              <a:t>Todo esto es gratuito y es la base de cualquier decisión de inversión futura.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61872"/>
            <a:ext cx="12188952" cy="5029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FASE 02  —  PRESENCIA ORGÁNICA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201168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349AFF"/>
                </a:solidFill>
              </a:rPr>
              <a:t>Semanas 1-2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73152" cy="914400"/>
          </a:xfrm>
          <a:prstGeom prst="rect">
            <a:avLst/>
          </a:prstGeom>
          <a:solidFill>
            <a:srgbClr val="E1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54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1306C"/>
                </a:solidFill>
              </a:rPr>
              <a:t>Instagram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659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5F0E8"/>
                </a:solidFill>
              </a:rPr>
              <a:t>Perfil @VillaLasTerrenas con fotos y vídeo. Canal visual principal.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697480"/>
            <a:ext cx="73152" cy="914400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7432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877F2"/>
                </a:solidFill>
              </a:rPr>
              <a:t>Facebook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154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5F0E8"/>
                </a:solidFill>
              </a:rPr>
              <a:t>Página de empresa (necesaria para Meta Ads). Grupos de viajeros y expats.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886200"/>
            <a:ext cx="73152" cy="914400"/>
          </a:xfrm>
          <a:prstGeom prst="rect">
            <a:avLst/>
          </a:prstGeom>
          <a:solidFill>
            <a:srgbClr val="FF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9319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0050"/>
                </a:solidFill>
              </a:rPr>
              <a:t>TikTok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343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5F0E8"/>
                </a:solidFill>
              </a:rPr>
              <a:t>Vídeo villa-hero.mp4 con potencial de alcance orgánico viral.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5074920"/>
            <a:ext cx="73152" cy="914400"/>
          </a:xfrm>
          <a:prstGeom prst="rect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51206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5D366"/>
                </a:solidFill>
              </a:rPr>
              <a:t>WhatsApp Business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5321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5F0E8"/>
                </a:solidFill>
              </a:rPr>
              <a:t>Canal directo de cierre. Catálogo con fotos y respuesta automática.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5F0E8"/>
                </a:solidFill>
              </a:rPr>
              <a:t>Objetivo: generar los primeros leads sin inversión publicitaria y construir credibilidad antes de activar los anuncios.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61872"/>
            <a:ext cx="12188952" cy="5029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FASE 03  —  META 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201168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F8C42"/>
                </a:solidFill>
              </a:rPr>
              <a:t>Semanas 3-4  ·  300-500 €/mes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5577840" cy="4480560"/>
          </a:xfrm>
          <a:prstGeom prst="rect">
            <a:avLst/>
          </a:prstGeom>
          <a:solidFill>
            <a:srgbClr val="10283A"/>
          </a:solidFill>
          <a:ln w="1524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0020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DD4BF"/>
                </a:solidFill>
              </a:rPr>
              <a:t>CAMPAÑA 1
AWARENESS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5146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DD4BF"/>
                </a:solidFill>
              </a:rPr>
              <a:t>OBJETIVO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788920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5F0E8"/>
                </a:solidFill>
              </a:rPr>
              <a:t>Reconocimiento de marca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593591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DD4BF"/>
                </a:solidFill>
              </a:rPr>
              <a:t>FORMATO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867911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5F0E8"/>
                </a:solidFill>
              </a:rPr>
              <a:t>Vídeo villa + carrusel de fotos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672583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DD4BF"/>
                </a:solidFill>
              </a:rPr>
              <a:t>AUDIENCIA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946903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5F0E8"/>
                </a:solidFill>
              </a:rPr>
              <a:t>Viajeros, lujo, RD, España, Francia, UK, USA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463040"/>
            <a:ext cx="5577840" cy="4480560"/>
          </a:xfrm>
          <a:prstGeom prst="rect">
            <a:avLst/>
          </a:prstGeom>
          <a:solidFill>
            <a:srgbClr val="10283A"/>
          </a:solidFill>
          <a:ln w="1524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60020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8C42"/>
                </a:solidFill>
              </a:rPr>
              <a:t>CAMPAÑA 2
CONVERSIÓN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5146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8C42"/>
                </a:solidFill>
              </a:rPr>
              <a:t>OBJETIVO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788920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5F0E8"/>
                </a:solidFill>
              </a:rPr>
              <a:t>Tráfico a la landing → formulario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3593591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8C42"/>
                </a:solidFill>
              </a:rPr>
              <a:t>FORMATO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867911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5F0E8"/>
                </a:solidFill>
              </a:rPr>
              <a:t>Story vertical + CTA directo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4672583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8C42"/>
                </a:solidFill>
              </a:rPr>
              <a:t>AUDIENCIA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4946903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5F0E8"/>
                </a:solidFill>
              </a:rPr>
              <a:t>Visitantes de la landing (remarketing automático)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5F0E8"/>
                </a:solidFill>
              </a:rPr>
              <a:t>Meta Ads Manager muestra en tiempo real: impresiones, clics, coste por lead y ROAS.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61872"/>
            <a:ext cx="12188952" cy="5029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FASE 04  —  GOOGLE 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201168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A78BFA"/>
                </a:solidFill>
              </a:rPr>
              <a:t>Mes 2  ·  150-300 €/mes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11430000" cy="1298448"/>
          </a:xfrm>
          <a:prstGeom prst="rect">
            <a:avLst/>
          </a:prstGeom>
          <a:solidFill>
            <a:srgbClr val="10283A"/>
          </a:solidFill>
          <a:ln w="10160">
            <a:solidFill>
              <a:srgbClr val="349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00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9AFF"/>
                </a:solidFill>
              </a:rPr>
              <a:t>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719072"/>
            <a:ext cx="8503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5F0E8"/>
                </a:solidFill>
              </a:rPr>
              <a:t>Captar usuarios que buscan activamente 'villa alquiler Las Terrenas' en Google. Alta intención de reserva.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944368"/>
            <a:ext cx="11430000" cy="1298448"/>
          </a:xfrm>
          <a:prstGeom prst="rect">
            <a:avLst/>
          </a:prstGeom>
          <a:solidFill>
            <a:srgbClr val="10283A"/>
          </a:solidFill>
          <a:ln w="1016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08152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0000"/>
                </a:solidFill>
              </a:rPr>
              <a:t>Display / YouTube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3200400"/>
            <a:ext cx="8503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5F0E8"/>
                </a:solidFill>
              </a:rPr>
              <a:t>Banners y vídeos cortos para usuarios que visitaron la landing pero no reservaron. Recordatorio visual.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425696"/>
            <a:ext cx="11430000" cy="1298448"/>
          </a:xfrm>
          <a:prstGeom prst="rect">
            <a:avLst/>
          </a:prstGeom>
          <a:solidFill>
            <a:srgbClr val="10283A"/>
          </a:solidFill>
          <a:ln w="1016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4562856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A853"/>
                </a:solidFill>
              </a:rPr>
              <a:t>SEO (sin coste)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4681728"/>
            <a:ext cx="8503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5F0E8"/>
                </a:solidFill>
              </a:rPr>
              <a:t>Optimizar la landing con título, descripción y Schema de alojamiento para aparecer en Google de forma orgánica.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5F0E8"/>
                </a:solidFill>
              </a:rPr>
              <a:t>Google Ads se activa cuando ya hay datos de Meta para optimizar mejor la inversión.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61872"/>
            <a:ext cx="12188952" cy="5029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FASE 05  —  AIRBNB &amp; OTAs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201168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F5A5F"/>
                </a:solidFill>
              </a:rPr>
              <a:t>Mes 2-3  ·  Sin inversión directa</a:t>
            </a:r>
          </a:p>
        </p:txBody>
      </p:sp>
      <p:sp>
        <p:nvSpPr>
          <p:cNvPr id="6" name="Oval 5"/>
          <p:cNvSpPr/>
          <p:nvPr/>
        </p:nvSpPr>
        <p:spPr>
          <a:xfrm>
            <a:off x="365760" y="1600200"/>
            <a:ext cx="182880" cy="182880"/>
          </a:xfrm>
          <a:prstGeom prst="ellipse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99616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5A5F"/>
                </a:solidFill>
              </a:rPr>
              <a:t>Airbnb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65376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5F0E8"/>
                </a:solidFill>
              </a:rPr>
              <a:t>Perfil completo (fotos, precios, normas). Instant Book activo para más visibilidad en el algoritmo.</a:t>
            </a:r>
          </a:p>
        </p:txBody>
      </p:sp>
      <p:sp>
        <p:nvSpPr>
          <p:cNvPr id="9" name="Oval 8"/>
          <p:cNvSpPr/>
          <p:nvPr/>
        </p:nvSpPr>
        <p:spPr>
          <a:xfrm>
            <a:off x="365760" y="2770632"/>
            <a:ext cx="182880" cy="182880"/>
          </a:xfrm>
          <a:prstGeom prst="ellipse">
            <a:avLst/>
          </a:prstGeom>
          <a:solidFill>
            <a:srgbClr val="003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67004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B95"/>
                </a:solidFill>
              </a:rPr>
              <a:t>Booking.com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035808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5F0E8"/>
                </a:solidFill>
              </a:rPr>
              <a:t>Plataforma secundaria orientada a viajeros europeos de alto poder adquisitivo.</a:t>
            </a:r>
          </a:p>
        </p:txBody>
      </p:sp>
      <p:sp>
        <p:nvSpPr>
          <p:cNvPr id="12" name="Oval 11"/>
          <p:cNvSpPr/>
          <p:nvPr/>
        </p:nvSpPr>
        <p:spPr>
          <a:xfrm>
            <a:off x="365760" y="3941064"/>
            <a:ext cx="182880" cy="18288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8404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107"/>
                </a:solidFill>
              </a:rPr>
              <a:t>Reseñas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20624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5F0E8"/>
                </a:solidFill>
              </a:rPr>
              <a:t>Las primeras 3-5 reseñas son críticas para el posicionamiento en ambas plataformas.</a:t>
            </a:r>
          </a:p>
        </p:txBody>
      </p:sp>
      <p:sp>
        <p:nvSpPr>
          <p:cNvPr id="15" name="Oval 14"/>
          <p:cNvSpPr/>
          <p:nvPr/>
        </p:nvSpPr>
        <p:spPr>
          <a:xfrm>
            <a:off x="365760" y="5111496"/>
            <a:ext cx="182880" cy="18288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501091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D4BF"/>
                </a:solidFill>
              </a:rPr>
              <a:t>Estrategia directa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376672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5F0E8"/>
                </a:solidFill>
              </a:rPr>
              <a:t>Airbnb para captar. Landing propia para fidelizar → reservas directas sin comisión del 15-20%.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61872"/>
            <a:ext cx="12188952" cy="5029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REMARKETING  —  Recuperar a Quien No Reservó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1463040"/>
            <a:ext cx="7589520" cy="1371600"/>
          </a:xfrm>
          <a:prstGeom prst="rect">
            <a:avLst/>
          </a:prstGeom>
          <a:solidFill>
            <a:srgbClr val="052232"/>
          </a:solidFill>
          <a:ln w="1524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68880" y="1572768"/>
            <a:ext cx="7223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DD4BF"/>
                </a:solidFill>
              </a:rPr>
              <a:t>El 97% de los visitantes NO reserva en la primera visita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2103120"/>
            <a:ext cx="7223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>
                <a:solidFill>
                  <a:srgbClr val="F5F0E8"/>
                </a:solidFill>
              </a:rPr>
              <a:t>El remarketing es la acción de mayor retorno sobre inversión de todo el plan.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108960"/>
            <a:ext cx="3611880" cy="2560320"/>
          </a:xfrm>
          <a:prstGeom prst="rect">
            <a:avLst/>
          </a:prstGeom>
          <a:solidFill>
            <a:srgbClr val="10283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246120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DD4BF"/>
                </a:solidFill>
              </a:rPr>
              <a:t>Meta
Remarketing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77639"/>
            <a:ext cx="3246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5F0E8"/>
                </a:solidFill>
              </a:rPr>
              <a:t>Mostramos anuncios en Instagram/Facebook
a quien visitó la landing pero no reservó.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3108960"/>
            <a:ext cx="3611880" cy="2560320"/>
          </a:xfrm>
          <a:prstGeom prst="rect">
            <a:avLst/>
          </a:prstGeom>
          <a:solidFill>
            <a:srgbClr val="10283A"/>
          </a:solidFill>
          <a:ln w="12700">
            <a:solidFill>
              <a:srgbClr val="349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3246120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49AFF"/>
                </a:solidFill>
              </a:rPr>
              <a:t>Google
Display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3977639"/>
            <a:ext cx="3246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5F0E8"/>
                </a:solidFill>
              </a:rPr>
              <a:t>Banners en webs y YouTube recordando
la villa mientras navegan por internet.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3108960"/>
            <a:ext cx="3611880" cy="2560320"/>
          </a:xfrm>
          <a:prstGeom prst="rect">
            <a:avLst/>
          </a:prstGeom>
          <a:solidFill>
            <a:srgbClr val="10283A"/>
          </a:solidFill>
          <a:ln w="127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3246120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8C42"/>
                </a:solidFill>
              </a:rPr>
              <a:t>Email
Marketing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977639"/>
            <a:ext cx="3246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5F0E8"/>
                </a:solidFill>
              </a:rPr>
              <a:t>Secuencia automática de 3 emails
para recuperar leads fríos (Mailchimp).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943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5F0E8"/>
                </a:solidFill>
              </a:rPr>
              <a:t>Presupuesto remarketing: 3-5 €/día · Resultado esperado: recuperar 15-25% de visitantes indecisos.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61872"/>
            <a:ext cx="12188952" cy="5029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INVERSIÓN Y RETORNO ESTIMADO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5303520" cy="4206240"/>
          </a:xfrm>
          <a:prstGeom prst="rect">
            <a:avLst/>
          </a:prstGeom>
          <a:solidFill>
            <a:srgbClr val="10283A"/>
          </a:solidFill>
          <a:ln w="1524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DD4BF"/>
                </a:solidFill>
              </a:rPr>
              <a:t>STARTER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574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5F0E8"/>
                </a:solidFill>
              </a:rPr>
              <a:t>Mes 1-2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0"/>
            <a:ext cx="0" cy="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0"/>
            <a:ext cx="0" cy="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0"/>
            <a:ext cx="0" cy="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0"/>
            <a:ext cx="0" cy="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560320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0E8"/>
                </a:solidFill>
              </a:rPr>
              <a:t>Meta Ads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560320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5F0E8"/>
                </a:solidFill>
              </a:rPr>
              <a:t>300 €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090672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0E8"/>
                </a:solidFill>
              </a:rPr>
              <a:t>Google Ads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090672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5F0E8"/>
                </a:solidFill>
              </a:rPr>
              <a:t>150 €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621024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0E8"/>
                </a:solidFill>
              </a:rPr>
              <a:t>Herramientas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3621024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5F0E8"/>
                </a:solidFill>
              </a:rPr>
              <a:t>0 €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151375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F0E8"/>
                </a:solidFill>
              </a:rPr>
              <a:t>─────────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4151375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5F0E8"/>
                </a:solidFill>
              </a:rPr>
              <a:t>─────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681727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D4BF"/>
                </a:solidFill>
              </a:rPr>
              <a:t>TOTAL MES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4681727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2DD4BF"/>
                </a:solidFill>
              </a:rPr>
              <a:t>~450 €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1463040"/>
            <a:ext cx="5303520" cy="4206240"/>
          </a:xfrm>
          <a:prstGeom prst="rect">
            <a:avLst/>
          </a:prstGeom>
          <a:solidFill>
            <a:srgbClr val="10283A"/>
          </a:solidFill>
          <a:ln w="1524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160020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8C42"/>
                </a:solidFill>
              </a:rPr>
              <a:t>GROWTH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0574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5F0E8"/>
                </a:solidFill>
              </a:rPr>
              <a:t>Mes 3+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2560320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0E8"/>
                </a:solidFill>
              </a:rPr>
              <a:t>Meta Ads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0" y="2560320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5F0E8"/>
                </a:solidFill>
              </a:rPr>
              <a:t>500 €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3090672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0E8"/>
                </a:solidFill>
              </a:rPr>
              <a:t>Google Ads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0" y="3090672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5F0E8"/>
                </a:solidFill>
              </a:rPr>
              <a:t>300 €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3621024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0E8"/>
                </a:solidFill>
              </a:rPr>
              <a:t>Email/Auto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9760" y="3621024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5F0E8"/>
                </a:solidFill>
              </a:rPr>
              <a:t>50 €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4151375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F0E8"/>
                </a:solidFill>
              </a:rPr>
              <a:t>─────────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9760" y="4151375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5F0E8"/>
                </a:solidFill>
              </a:rPr>
              <a:t>─────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4681727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8C42"/>
                </a:solidFill>
              </a:rPr>
              <a:t>TOTAL MES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9760" y="4681727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8C42"/>
                </a:solidFill>
              </a:rPr>
              <a:t>~850 €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852160"/>
            <a:ext cx="11430000" cy="713232"/>
          </a:xfrm>
          <a:prstGeom prst="rect">
            <a:avLst/>
          </a:prstGeom>
          <a:solidFill>
            <a:srgbClr val="052232"/>
          </a:solidFill>
          <a:ln w="762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596188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DD4BF"/>
                </a:solidFill>
              </a:rPr>
              <a:t>1 reserva/semana a 800-1.500€  =  3.200-6.000 €/mes  →  Inversión 450€  →  ROAS estimado 7x-13x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61872"/>
            <a:ext cx="12188952" cy="5029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TIMELINE — 90 DÍAS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3547872"/>
            <a:ext cx="11201400" cy="54864"/>
          </a:xfrm>
          <a:prstGeom prst="rect">
            <a:avLst/>
          </a:prstGeom>
          <a:solidFill>
            <a:srgbClr val="1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" y="3310128"/>
            <a:ext cx="502920" cy="50292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DD4BF"/>
                </a:solidFill>
              </a:rPr>
              <a:t>Sem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828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Tracking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3977639"/>
            <a:ext cx="1965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5F0E8"/>
                </a:solidFill>
              </a:rPr>
              <a:t>GA4 + Meta Pixel + GTM. Verificar dominio Meta.</a:t>
            </a:r>
          </a:p>
        </p:txBody>
      </p:sp>
      <p:sp>
        <p:nvSpPr>
          <p:cNvPr id="10" name="Oval 9"/>
          <p:cNvSpPr/>
          <p:nvPr/>
        </p:nvSpPr>
        <p:spPr>
          <a:xfrm>
            <a:off x="2862072" y="3310128"/>
            <a:ext cx="502920" cy="502920"/>
          </a:xfrm>
          <a:prstGeom prst="ellipse">
            <a:avLst/>
          </a:prstGeom>
          <a:solidFill>
            <a:srgbClr val="34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67712" y="14173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49AFF"/>
                </a:solidFill>
              </a:rPr>
              <a:t>Sem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67712" y="1828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Orgánico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21992" y="3977639"/>
            <a:ext cx="1965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5F0E8"/>
                </a:solidFill>
              </a:rPr>
              <a:t>Instagram + Facebook + WhatsApp Business. Primeros posts.</a:t>
            </a:r>
          </a:p>
        </p:txBody>
      </p:sp>
      <p:sp>
        <p:nvSpPr>
          <p:cNvPr id="14" name="Oval 13"/>
          <p:cNvSpPr/>
          <p:nvPr/>
        </p:nvSpPr>
        <p:spPr>
          <a:xfrm>
            <a:off x="4764024" y="3310128"/>
            <a:ext cx="502920" cy="50292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69664" y="14173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8C42"/>
                </a:solidFill>
              </a:rPr>
              <a:t>Sem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9664" y="1828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Meta Ads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23944" y="3977639"/>
            <a:ext cx="1965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5F0E8"/>
                </a:solidFill>
              </a:rPr>
              <a:t>Campaña Awareness con el vídeo de la villa.</a:t>
            </a:r>
          </a:p>
        </p:txBody>
      </p:sp>
      <p:sp>
        <p:nvSpPr>
          <p:cNvPr id="18" name="Oval 17"/>
          <p:cNvSpPr/>
          <p:nvPr/>
        </p:nvSpPr>
        <p:spPr>
          <a:xfrm>
            <a:off x="6665976" y="3310128"/>
            <a:ext cx="502920" cy="50292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71616" y="14173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A78BFA"/>
                </a:solidFill>
              </a:rPr>
              <a:t>Sem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71616" y="1828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Google Ads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25896" y="3977639"/>
            <a:ext cx="1965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5F0E8"/>
                </a:solidFill>
              </a:rPr>
              <a:t>Search + audiencias de remarketing activas.</a:t>
            </a:r>
          </a:p>
        </p:txBody>
      </p:sp>
      <p:sp>
        <p:nvSpPr>
          <p:cNvPr id="22" name="Oval 21"/>
          <p:cNvSpPr/>
          <p:nvPr/>
        </p:nvSpPr>
        <p:spPr>
          <a:xfrm>
            <a:off x="8567928" y="3310128"/>
            <a:ext cx="502920" cy="502920"/>
          </a:xfrm>
          <a:prstGeom prst="ellipse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73568" y="14173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5A5F"/>
                </a:solidFill>
              </a:rPr>
              <a:t>Mes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73568" y="1828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Optimizar + Airbnb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27848" y="3977639"/>
            <a:ext cx="1965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5F0E8"/>
                </a:solidFill>
              </a:rPr>
              <a:t>Ajustar campañas con datos. Perfil Airbnb al 100%.</a:t>
            </a:r>
          </a:p>
        </p:txBody>
      </p:sp>
      <p:sp>
        <p:nvSpPr>
          <p:cNvPr id="26" name="Oval 25"/>
          <p:cNvSpPr/>
          <p:nvPr/>
        </p:nvSpPr>
        <p:spPr>
          <a:xfrm>
            <a:off x="10469880" y="3310128"/>
            <a:ext cx="502920" cy="50292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0" y="14173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DD4BF"/>
                </a:solidFill>
              </a:rPr>
              <a:t>Mes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1828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Escalar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29800" y="3977639"/>
            <a:ext cx="1965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5F0E8"/>
                </a:solidFill>
              </a:rPr>
              <a:t>Email marketing. Remarketing email. Primeras reseñas.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61872"/>
            <a:ext cx="12188952" cy="5029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PRÓXIMOS PASOS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5577840" cy="1417320"/>
          </a:xfrm>
          <a:prstGeom prst="rect">
            <a:avLst/>
          </a:prstGeom>
          <a:solidFill>
            <a:srgbClr val="10283A"/>
          </a:solidFill>
          <a:ln w="1016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DD4B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Aprobar landing y publicar online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57400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0E8"/>
                </a:solidFill>
              </a:rPr>
              <a:t>Netlify Drop o dominio propio — la base de todo el plan digital.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463040"/>
            <a:ext cx="5577840" cy="1417320"/>
          </a:xfrm>
          <a:prstGeom prst="rect">
            <a:avLst/>
          </a:prstGeom>
          <a:solidFill>
            <a:srgbClr val="10283A"/>
          </a:solidFill>
          <a:ln w="10160">
            <a:solidFill>
              <a:srgbClr val="349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60020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49A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16002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Crear cuentas de analítica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2057400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0E8"/>
                </a:solidFill>
              </a:rPr>
              <a:t>Google Analytics 4 + Meta Business Manager + Meta Pixel.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063240"/>
            <a:ext cx="5577840" cy="1417320"/>
          </a:xfrm>
          <a:prstGeom prst="rect">
            <a:avLst/>
          </a:prstGeom>
          <a:solidFill>
            <a:srgbClr val="10283A"/>
          </a:solidFill>
          <a:ln w="1016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20040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DD4B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2004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Definir presupuesto inicial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657600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0E8"/>
                </a:solidFill>
              </a:rPr>
              <a:t>Mínimo recomendado: 450 €/mes para arrancar con impacto.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3063240"/>
            <a:ext cx="5577840" cy="1417320"/>
          </a:xfrm>
          <a:prstGeom prst="rect">
            <a:avLst/>
          </a:prstGeom>
          <a:solidFill>
            <a:srgbClr val="10283A"/>
          </a:solidFill>
          <a:ln w="10160">
            <a:solidFill>
              <a:srgbClr val="349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20040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49A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32004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Crear perfil Instagram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657600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0E8"/>
                </a:solidFill>
              </a:rPr>
              <a:t>Publicar 6-9 posts con las fotos y el vídeo de la villa.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663440"/>
            <a:ext cx="5577840" cy="1417320"/>
          </a:xfrm>
          <a:prstGeom prst="rect">
            <a:avLst/>
          </a:prstGeom>
          <a:solidFill>
            <a:srgbClr val="10283A"/>
          </a:solidFill>
          <a:ln w="1016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80060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DD4BF"/>
                </a:solidFill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8006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Lanzar primera campaña Meta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257800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0E8"/>
                </a:solidFill>
              </a:rPr>
              <a:t>Vídeo villa-hero.mp4 con audiencia de viajeros internacionales.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4663440"/>
            <a:ext cx="5577840" cy="1417320"/>
          </a:xfrm>
          <a:prstGeom prst="rect">
            <a:avLst/>
          </a:prstGeom>
          <a:solidFill>
            <a:srgbClr val="10283A"/>
          </a:solidFill>
          <a:ln w="10160">
            <a:solidFill>
              <a:srgbClr val="349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480060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49AFF"/>
                </a:solidFill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48006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Crear perfil Airbnb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257800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0E8"/>
                </a:solidFill>
              </a:rPr>
              <a:t>Completar al 100% y activar Instant Book.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