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A201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286000"/>
            <a:ext cx="7315200" cy="7315200"/>
          </a:xfrm>
          <a:prstGeom prst="ellipse">
            <a:avLst/>
          </a:prstGeom>
          <a:solidFill>
            <a:srgbClr val="0D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457200"/>
            <a:ext cx="4572000" cy="4572000"/>
          </a:xfrm>
          <a:prstGeom prst="ellipse">
            <a:avLst/>
          </a:prstGeom>
          <a:solidFill>
            <a:srgbClr val="10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731520"/>
            <a:ext cx="2743200" cy="2743200"/>
          </a:xfrm>
          <a:prstGeom prst="ellipse">
            <a:avLst/>
          </a:prstGeom>
          <a:solidFill>
            <a:srgbClr val="1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120640"/>
            <a:ext cx="12188952" cy="64008"/>
          </a:xfrm>
          <a:prstGeom prst="rect">
            <a:avLst/>
          </a:prstGeom>
          <a:gradFill>
            <a:gsLst>
              <a:gs pos="0">
                <a:srgbClr val="F5C518"/>
              </a:gs>
              <a:gs pos="100000">
                <a:srgbClr val="2DD4B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64008" cy="4114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868680"/>
            <a:ext cx="10058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ESTRATEGIA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2DD4BF"/>
                </a:solidFill>
              </a:rPr>
              <a:t>DE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8"/>
                </a:solidFill>
              </a:rPr>
              <a:t>Villa Las Terrenas  ·  Dominican Republic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41648"/>
            <a:ext cx="608076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8A7E"/>
                </a:solidFill>
              </a:rPr>
              <a:t>Plan Ejecutivo  ·  2026  ·  Confidencial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56032"/>
            <a:ext cx="2450592" cy="420624"/>
          </a:xfrm>
          <a:prstGeom prst="rect">
            <a:avLst/>
          </a:prstGeom>
          <a:gradFill>
            <a:gsLst>
              <a:gs pos="0">
                <a:srgbClr val="1A5C48"/>
              </a:gs>
              <a:gs pos="100000">
                <a:srgbClr val="1A7A68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"/>
            <a:ext cx="2450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A1C14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OBJETIVO DEL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A8A7E"/>
                </a:solidFill>
              </a:rPr>
              <a:t>La meta que guía todas las decisiones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48872" cy="23317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A1E14"/>
              </a:gs>
            </a:gsLst>
            <a:lin ang="9600000" scaled="0"/>
          </a:gra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91440" cy="2331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Llenar el calendario de reservas
de Villa Las Terrenas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F0E8"/>
                </a:solidFill>
              </a:rPr>
              <a:t>Presencia digital propia + OTAs + campañas de pago → marca reconocible que genera reservas directas recurrentes.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03320"/>
            <a:ext cx="2670048" cy="269748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703320"/>
            <a:ext cx="2670048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977639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500+/mes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A7E"/>
                </a:solidFill>
              </a:rPr>
              <a:t>Visitas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76072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8A7E"/>
                </a:solidFill>
              </a:rPr>
              <a:t>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3703320"/>
            <a:ext cx="2670048" cy="269748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3703320"/>
            <a:ext cx="2670048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3977639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&gt;2%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480060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A7E"/>
                </a:solidFill>
              </a:rPr>
              <a:t>Conversión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576072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8A7E"/>
                </a:solidFill>
              </a:rPr>
              <a:t>KPI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3703320"/>
            <a:ext cx="2670048" cy="269748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25896" y="3703320"/>
            <a:ext cx="2670048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5896" y="3977639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&lt;15 €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480060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A7E"/>
                </a:solidFill>
              </a:rPr>
              <a:t>Coste/Lead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576072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8A7E"/>
                </a:solidFill>
              </a:rPr>
              <a:t>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78824" y="3703320"/>
            <a:ext cx="2670048" cy="269748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78824" y="3703320"/>
            <a:ext cx="2670048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8824" y="3977639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&gt;3x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480060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A7E"/>
                </a:solidFill>
              </a:rPr>
              <a:t>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5760720"/>
            <a:ext cx="2670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8A7E"/>
                </a:solidFill>
              </a:rPr>
              <a:t>KPI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C1E18"/>
              </a:gs>
            </a:gsLst>
            <a:lin ang="8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PLAN EN 5 FASES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De cero a reservas recurrentes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2176272" cy="4709160"/>
          </a:xfrm>
          <a:prstGeom prst="rect">
            <a:avLst/>
          </a:prstGeom>
          <a:gradFill>
            <a:gsLst>
              <a:gs pos="0">
                <a:srgbClr val="0D2E22"/>
              </a:gs>
              <a:gs pos="100000">
                <a:srgbClr val="050E0A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176272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74519"/>
            <a:ext cx="2176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DD4BF"/>
                </a:solidFill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761488"/>
            <a:ext cx="1956815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71216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INFRAESTRUCTURA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730752"/>
            <a:ext cx="2029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A7E"/>
                </a:solidFill>
              </a:rPr>
              <a:t>Tracking y analítica base</a:t>
            </a:r>
          </a:p>
        </p:txBody>
      </p:sp>
      <p:sp>
        <p:nvSpPr>
          <p:cNvPr id="13" name="Oval 12"/>
          <p:cNvSpPr/>
          <p:nvPr/>
        </p:nvSpPr>
        <p:spPr>
          <a:xfrm>
            <a:off x="1188719" y="5870448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58704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9192" y="1664208"/>
            <a:ext cx="2176272" cy="4709160"/>
          </a:xfrm>
          <a:prstGeom prst="rect">
            <a:avLst/>
          </a:prstGeom>
          <a:gradFill>
            <a:gsLst>
              <a:gs pos="0">
                <a:srgbClr val="0A1A2E"/>
              </a:gs>
              <a:gs pos="100000">
                <a:srgbClr val="050E0A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9192" y="1664208"/>
            <a:ext cx="2176272" cy="73152"/>
          </a:xfrm>
          <a:prstGeom prst="rect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874519"/>
            <a:ext cx="2176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4C4FF"/>
                </a:solidFill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761488"/>
            <a:ext cx="1956815" cy="22860"/>
          </a:xfrm>
          <a:prstGeom prst="rect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52344" y="2871216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PRESENCIA
ORGÁNICA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2344" y="3730752"/>
            <a:ext cx="2029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A7E"/>
                </a:solidFill>
              </a:rPr>
              <a:t>Redes y comunidad</a:t>
            </a:r>
          </a:p>
        </p:txBody>
      </p:sp>
      <p:sp>
        <p:nvSpPr>
          <p:cNvPr id="21" name="Oval 20"/>
          <p:cNvSpPr/>
          <p:nvPr/>
        </p:nvSpPr>
        <p:spPr>
          <a:xfrm>
            <a:off x="3547872" y="5870448"/>
            <a:ext cx="438912" cy="438912"/>
          </a:xfrm>
          <a:prstGeom prst="ellipse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58704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8344" y="1664208"/>
            <a:ext cx="2176272" cy="4709160"/>
          </a:xfrm>
          <a:prstGeom prst="rect">
            <a:avLst/>
          </a:prstGeom>
          <a:gradFill>
            <a:gsLst>
              <a:gs pos="0">
                <a:srgbClr val="1E0E06"/>
              </a:gs>
              <a:gs pos="100000">
                <a:srgbClr val="050E0A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8344" y="1664208"/>
            <a:ext cx="2176272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4" y="1874519"/>
            <a:ext cx="2176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8C42"/>
                </a:solidFill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072" y="2761488"/>
            <a:ext cx="1956815" cy="228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2871216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META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3730752"/>
            <a:ext cx="2029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A7E"/>
                </a:solidFill>
              </a:rPr>
              <a:t>Instagram y Facebook</a:t>
            </a:r>
          </a:p>
        </p:txBody>
      </p:sp>
      <p:sp>
        <p:nvSpPr>
          <p:cNvPr id="29" name="Oval 28"/>
          <p:cNvSpPr/>
          <p:nvPr/>
        </p:nvSpPr>
        <p:spPr>
          <a:xfrm>
            <a:off x="5907024" y="5870448"/>
            <a:ext cx="438912" cy="438912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58704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7496" y="1664208"/>
            <a:ext cx="2176272" cy="4709160"/>
          </a:xfrm>
          <a:prstGeom prst="rect">
            <a:avLst/>
          </a:prstGeom>
          <a:gradFill>
            <a:gsLst>
              <a:gs pos="0">
                <a:srgbClr val="0E0A1E"/>
              </a:gs>
              <a:gs pos="100000">
                <a:srgbClr val="050E0A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97496" y="1664208"/>
            <a:ext cx="217627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97496" y="1874519"/>
            <a:ext cx="2176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78BFA"/>
                </a:solidFill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07223" y="2761488"/>
            <a:ext cx="1956816" cy="228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8" y="2871216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GOOGLE 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3730752"/>
            <a:ext cx="2029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A7E"/>
                </a:solidFill>
              </a:rPr>
              <a:t>Búsquedas de intención</a:t>
            </a:r>
          </a:p>
        </p:txBody>
      </p:sp>
      <p:sp>
        <p:nvSpPr>
          <p:cNvPr id="37" name="Oval 36"/>
          <p:cNvSpPr/>
          <p:nvPr/>
        </p:nvSpPr>
        <p:spPr>
          <a:xfrm>
            <a:off x="8266175" y="5870448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5" y="58704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56648" y="1664208"/>
            <a:ext cx="2176272" cy="4709160"/>
          </a:xfrm>
          <a:prstGeom prst="rect">
            <a:avLst/>
          </a:prstGeom>
          <a:gradFill>
            <a:gsLst>
              <a:gs pos="0">
                <a:srgbClr val="1E0808"/>
              </a:gs>
              <a:gs pos="100000">
                <a:srgbClr val="050E0A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56648" y="1664208"/>
            <a:ext cx="2176272" cy="7315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1874519"/>
            <a:ext cx="2176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5A5F"/>
                </a:solidFill>
              </a:rPr>
              <a:t>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66376" y="2761488"/>
            <a:ext cx="1956816" cy="2286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2871216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AIRBNB &amp; OTAs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730752"/>
            <a:ext cx="2029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A7E"/>
                </a:solidFill>
              </a:rPr>
              <a:t>Plataformas globales</a:t>
            </a:r>
          </a:p>
        </p:txBody>
      </p:sp>
      <p:sp>
        <p:nvSpPr>
          <p:cNvPr id="45" name="Oval 44"/>
          <p:cNvSpPr/>
          <p:nvPr/>
        </p:nvSpPr>
        <p:spPr>
          <a:xfrm>
            <a:off x="10625328" y="5870448"/>
            <a:ext cx="438912" cy="438912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25328" y="58704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96312" y="3474720"/>
            <a:ext cx="182880" cy="22860"/>
          </a:xfrm>
          <a:prstGeom prst="rect">
            <a:avLst/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55464" y="3474720"/>
            <a:ext cx="182880" cy="22860"/>
          </a:xfrm>
          <a:prstGeom prst="rect">
            <a:avLst/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14616" y="3474720"/>
            <a:ext cx="182880" cy="22860"/>
          </a:xfrm>
          <a:prstGeom prst="rect">
            <a:avLst/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73767" y="3474720"/>
            <a:ext cx="182880" cy="22860"/>
          </a:xfrm>
          <a:prstGeom prst="rect">
            <a:avLst/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A1C1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6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FASE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7548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INFRAESTRUCTURA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078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A8A7E"/>
                </a:solidFill>
              </a:rPr>
              <a:t>Semana 1  ·  Base técnica antes de invertir un euro en publicidad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27632"/>
            <a:ext cx="5806440" cy="221284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627632"/>
            <a:ext cx="64008" cy="22128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10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Google Analytics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13432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Medimos cada visita: de dónde viene, cuánto tiempo, qué sección ve. Base de todas las decisiones.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27632"/>
            <a:ext cx="5806440" cy="221284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7" y="1627632"/>
            <a:ext cx="64008" cy="22128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10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Meta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13432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Identifica a cada visitante para reimpactarle después en Instagram y Facebook.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4050791"/>
            <a:ext cx="5806440" cy="221284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4050791"/>
            <a:ext cx="64008" cy="22128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233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Google Tag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736592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Gestión centralizada de todos los píxeles sin tocar código cada vez.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4050791"/>
            <a:ext cx="5806440" cy="221284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7" y="4050791"/>
            <a:ext cx="64008" cy="22128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233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Evento 'Lead'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736592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Cada formulario enviado dispara un evento en GA4 + Meta → calculamos CPL real por canal.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A8A7E"/>
                </a:solidFill>
              </a:rPr>
              <a:t>GA4 + Meta Business Suite + GTM  =  0 €/mes  ·  Todo gratuito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8141E"/>
              </a:gs>
            </a:gsLst>
            <a:lin ang="7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6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C4FF"/>
                </a:solidFill>
              </a:rPr>
              <a:t>FASE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7548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PRESENCIA ORGÁNICA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078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A8A7E"/>
                </a:solidFill>
              </a:rPr>
              <a:t>Semanas 1-2  ·  Primeros leads sin inversión publicitaria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572768"/>
            <a:ext cx="11795760" cy="1078992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5080">
            <a:solidFill>
              <a:srgbClr val="E13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572768"/>
            <a:ext cx="64008" cy="1078992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306C"/>
                </a:solidFill>
              </a:rPr>
              <a:t>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396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Perfil @VillaLasTerrenas. Fotos y Reels con villa-hero.mp4. Canal visual principal.</a:t>
            </a:r>
          </a:p>
        </p:txBody>
      </p:sp>
      <p:sp>
        <p:nvSpPr>
          <p:cNvPr id="13" name="Oval 12"/>
          <p:cNvSpPr/>
          <p:nvPr/>
        </p:nvSpPr>
        <p:spPr>
          <a:xfrm>
            <a:off x="11448288" y="1965960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834639"/>
            <a:ext cx="11795760" cy="1078992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508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834639"/>
            <a:ext cx="64008" cy="107899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9717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77F2"/>
                </a:solidFill>
              </a:rPr>
              <a:t>FACEBOOK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015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Página de empresa (necesaria para Meta Ads). Grupos de viajeros y expats en RD.</a:t>
            </a:r>
          </a:p>
        </p:txBody>
      </p:sp>
      <p:sp>
        <p:nvSpPr>
          <p:cNvPr id="18" name="Oval 17"/>
          <p:cNvSpPr/>
          <p:nvPr/>
        </p:nvSpPr>
        <p:spPr>
          <a:xfrm>
            <a:off x="11448288" y="3227832"/>
            <a:ext cx="292608" cy="29260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4096511"/>
            <a:ext cx="11795760" cy="1078992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5080">
            <a:solidFill>
              <a:srgbClr val="FF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4096511"/>
            <a:ext cx="64008" cy="107899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33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50"/>
                </a:solidFill>
              </a:rPr>
              <a:t>TIKTOK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Publicar villa-hero.mp4. Alto potencial de alcance orgánico sin pagar.</a:t>
            </a:r>
          </a:p>
        </p:txBody>
      </p:sp>
      <p:sp>
        <p:nvSpPr>
          <p:cNvPr id="23" name="Oval 22"/>
          <p:cNvSpPr/>
          <p:nvPr/>
        </p:nvSpPr>
        <p:spPr>
          <a:xfrm>
            <a:off x="11448288" y="4489703"/>
            <a:ext cx="292608" cy="292608"/>
          </a:xfrm>
          <a:prstGeom prst="ellipse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5358383"/>
            <a:ext cx="11795760" cy="1078992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508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5358383"/>
            <a:ext cx="64008" cy="1078992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4955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D366"/>
                </a:solidFill>
              </a:rPr>
              <a:t>WHATSAPP 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9253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Canal directo de cierre. Catálogo con fotos y respuesta automática.</a:t>
            </a:r>
          </a:p>
        </p:txBody>
      </p:sp>
      <p:sp>
        <p:nvSpPr>
          <p:cNvPr id="28" name="Oval 27"/>
          <p:cNvSpPr/>
          <p:nvPr/>
        </p:nvSpPr>
        <p:spPr>
          <a:xfrm>
            <a:off x="11448288" y="5751575"/>
            <a:ext cx="292608" cy="292608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160A0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6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FASE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7548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META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078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A8A7E"/>
                </a:solidFill>
              </a:rPr>
              <a:t>Semanas 3-4  ·  300-500 €/mes  ·  Instagram y Facebook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00200"/>
            <a:ext cx="5852160" cy="4983480"/>
          </a:xfrm>
          <a:prstGeom prst="rect">
            <a:avLst/>
          </a:prstGeom>
          <a:gradFill>
            <a:gsLst>
              <a:gs pos="0">
                <a:srgbClr val="0A1E14"/>
              </a:gs>
              <a:gs pos="100000">
                <a:srgbClr val="050E0A"/>
              </a:gs>
            </a:gsLst>
            <a:lin ang="8700000" scaled="0"/>
          </a:gra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600200"/>
            <a:ext cx="58521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5564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CAMPAÑA
AWARENESS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606040"/>
            <a:ext cx="54864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017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Reconocimiento de marca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84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FORMATO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587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Vídeo villa + carrusel fotos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256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AUDIENCIA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0001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Viajeros: RD, España, Francia, UK, 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2669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54126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Impresiones · Alcance · CTR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1600200"/>
            <a:ext cx="5852160" cy="4983480"/>
          </a:xfrm>
          <a:prstGeom prst="rect">
            <a:avLst/>
          </a:prstGeom>
          <a:gradFill>
            <a:gsLst>
              <a:gs pos="0">
                <a:srgbClr val="160A04"/>
              </a:gs>
              <a:gs pos="100000">
                <a:srgbClr val="050E0A"/>
              </a:gs>
            </a:gsLst>
            <a:lin ang="8700000" scaled="0"/>
          </a:gradFill>
          <a:ln w="1016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1600200"/>
            <a:ext cx="585216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75564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42"/>
                </a:solidFill>
              </a:rPr>
              <a:t>CAMPAÑA
CONVERSIÓN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0528" y="2606040"/>
            <a:ext cx="5486400" cy="228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OBJETIVO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017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Tráfico a la landing → formulario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584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FORMATO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8587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Story vertical + CTA directo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4256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AUDIENCIA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70001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Visitantes landing (Meta Pixel — remarketing)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2669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KPIs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554126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CPL · Leads · Tasa conversión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80818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6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FASE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7548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GOOGLE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078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A8A7E"/>
                </a:solidFill>
              </a:rPr>
              <a:t>Mes 2  ·  150-300 €/mes  ·  Captar a quien busca activamente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00200"/>
            <a:ext cx="11795760" cy="1444752"/>
          </a:xfrm>
          <a:prstGeom prst="rect">
            <a:avLst/>
          </a:prstGeom>
          <a:gradFill>
            <a:gsLst>
              <a:gs pos="0">
                <a:srgbClr val="0E0A1E"/>
              </a:gs>
              <a:gs pos="100000">
                <a:srgbClr val="050E0A"/>
              </a:gs>
            </a:gsLst>
            <a:lin ang="0" scaled="0"/>
          </a:gra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600200"/>
            <a:ext cx="64008" cy="14447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64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4028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Capturamos al viajero en el momento exacto en que busca 'villa alquiler Las Terrenas' en Google.
Alt a intención de reserva → el canal de mayor conversión.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0" y="2167128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3246120"/>
            <a:ext cx="11795760" cy="1444752"/>
          </a:xfrm>
          <a:prstGeom prst="rect">
            <a:avLst/>
          </a:prstGeom>
          <a:gradFill>
            <a:gsLst>
              <a:gs pos="0">
                <a:srgbClr val="1A0808"/>
              </a:gs>
              <a:gs pos="100000">
                <a:srgbClr val="050E0A"/>
              </a:gs>
            </a:gsLst>
            <a:lin ang="0" scaled="0"/>
          </a:gradFill>
          <a:ln w="63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3246120"/>
            <a:ext cx="64008" cy="144475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4107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A5F"/>
                </a:solidFill>
              </a:rPr>
              <a:t>Display &amp; 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8620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Banners y vídeos cortos a quienes visitaron la landing pero no reservaron.
Recordatorio visual mientras navegan por internet.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0" y="3813048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4892040"/>
            <a:ext cx="11795760" cy="1444752"/>
          </a:xfrm>
          <a:prstGeom prst="rect">
            <a:avLst/>
          </a:prstGeom>
          <a:gradFill>
            <a:gsLst>
              <a:gs pos="0">
                <a:srgbClr val="081408"/>
              </a:gs>
              <a:gs pos="100000">
                <a:srgbClr val="050E0A"/>
              </a:gs>
            </a:gsLst>
            <a:lin ang="0" scaled="0"/>
          </a:gra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4892040"/>
            <a:ext cx="64008" cy="14447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50566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</a:rPr>
              <a:t>SEO  (sin coste)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53212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Optimizamos título, descripción y Schema de alojamiento para aparecer en
Google de forma orgánica — sin pagar por cada clic.</a:t>
            </a:r>
          </a:p>
        </p:txBody>
      </p:sp>
      <p:sp>
        <p:nvSpPr>
          <p:cNvPr id="23" name="Oval 22"/>
          <p:cNvSpPr/>
          <p:nvPr/>
        </p:nvSpPr>
        <p:spPr>
          <a:xfrm>
            <a:off x="11430000" y="5458968"/>
            <a:ext cx="329184" cy="32918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180808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6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A5F"/>
                </a:solidFill>
              </a:rPr>
              <a:t>FASE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7548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AIRBNB &amp; OTAs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078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A8A7E"/>
                </a:solidFill>
              </a:rPr>
              <a:t>Mes 2-3  ·  Acceso a millones de viajeros internacionales  ·  Sin inversión directa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27632"/>
            <a:ext cx="5806440" cy="230428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627632"/>
            <a:ext cx="64008" cy="230428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A5F"/>
                </a:solidFill>
              </a:rPr>
              <a:t>Airbnb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77440"/>
            <a:ext cx="54864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Perfil completo — fotos, precios y normas. Instant Book activo para más visibilidad en el algoritmo.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27632"/>
            <a:ext cx="5806440" cy="230428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003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7" y="1627632"/>
            <a:ext cx="64008" cy="2304288"/>
          </a:xfrm>
          <a:prstGeom prst="rect">
            <a:avLst/>
          </a:prstGeom>
          <a:solidFill>
            <a:srgbClr val="003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95"/>
                </a:solidFill>
              </a:rPr>
              <a:t>Booking.com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77440"/>
            <a:ext cx="54864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Plataforma secundaria orientada a viajeros europeos de alto poder adquisitivo.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4114800"/>
            <a:ext cx="5806440" cy="230428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4114800"/>
            <a:ext cx="64008" cy="23042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3159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Reseñas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864608"/>
            <a:ext cx="54864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Las primeras 3-5 reseñas son críticas para posicionarse. Objetivo: media 5 estrellas.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4114800"/>
            <a:ext cx="5806440" cy="230428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7" y="4114800"/>
            <a:ext cx="64008" cy="23042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3159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Estrategia directa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864608"/>
            <a:ext cx="54864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Airbnb y Booking captan. La landing fideliza → reservas directas sin comisión del 15-20%.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A1E14"/>
              </a:gs>
            </a:gsLst>
            <a:lin ang="8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REMARKETING  —  Recuperar a quien no reservó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1548872" cy="157276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81610"/>
              </a:gs>
            </a:gsLst>
            <a:lin ang="9600000" scaled="0"/>
          </a:gra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91440" cy="157276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DD4BF"/>
                </a:solidFill>
              </a:rPr>
              <a:t>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98448"/>
            <a:ext cx="8229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 los visitantes no reserva en la primera visita.
El remarketing los recupera a coste mínimo.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07792"/>
            <a:ext cx="3749039" cy="349300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907792"/>
            <a:ext cx="374903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D4BF"/>
                </a:solidFill>
              </a:rPr>
              <a:t>META
REMARKETING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</a:rPr>
              <a:t>Anuncios en Instagram/Facebook a visitantes de la landing que no enviaron el formulario.
El Pixel los identifica automáticamente.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907792"/>
            <a:ext cx="3749039" cy="349300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10160">
            <a:solidFill>
              <a:srgbClr val="3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907792"/>
            <a:ext cx="3749039" cy="64008"/>
          </a:xfrm>
          <a:prstGeom prst="rect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30632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C4FF"/>
                </a:solidFill>
              </a:rPr>
              <a:t>GOOGLE
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4048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</a:rPr>
              <a:t>Banners en webs y YouTube recordando la villa mientras el usuario navega por internet.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2907792"/>
            <a:ext cx="3749039" cy="349300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2907792"/>
            <a:ext cx="3749039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9" y="30632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EMAIL
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0E8"/>
                </a:solidFill>
              </a:rPr>
              <a:t>Secuencia automática 3 emails: 24h → 3 días → 7 días. Mailchimp gratuito hasta 500 contactos.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92240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A8A7E"/>
                </a:solidFill>
              </a:rPr>
              <a:t>Resultado esperado: recuperar el 15-25% de visitantes indecisos · Presupuesto: 3-5 €/día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E1808"/>
              </a:gs>
            </a:gsLst>
            <a:lin ang="7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INVERSIÓN Y RETORNO ESTIMADO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394960" cy="4919472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60E08"/>
              </a:gs>
            </a:gsLst>
            <a:lin ang="8700000" scaled="0"/>
          </a:gra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A7E"/>
                </a:solidFill>
              </a:rPr>
              <a:t>Mes 1 y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50292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Meta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3774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300 €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Google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09067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150 €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0390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Herramientas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80390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53712"/>
            <a:ext cx="50292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8172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TOTAL /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68172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DD4BF"/>
                </a:solidFill>
              </a:rPr>
              <a:t>~ 450 €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115568"/>
            <a:ext cx="5394960" cy="4919472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E0E04"/>
              </a:gs>
            </a:gsLst>
            <a:lin ang="8700000" scaled="0"/>
          </a:gra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1115568"/>
            <a:ext cx="539496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A7E"/>
                </a:solidFill>
              </a:rPr>
              <a:t>Mes 3+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212848"/>
            <a:ext cx="502920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3774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Meta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37744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500 €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906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Google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0906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300 €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0390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Email / Auto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380390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50 €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4553712"/>
            <a:ext cx="502920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68172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TOTAL / 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4681728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C518"/>
                </a:solidFill>
              </a:rPr>
              <a:t>~ 850 €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172200"/>
            <a:ext cx="11548872" cy="594360"/>
          </a:xfrm>
          <a:prstGeom prst="rect">
            <a:avLst/>
          </a:prstGeom>
          <a:gradFill>
            <a:gsLst>
              <a:gs pos="0">
                <a:srgbClr val="0A2A10"/>
              </a:gs>
              <a:gs pos="100000">
                <a:srgbClr val="050E08"/>
              </a:gs>
            </a:gsLst>
            <a:lin ang="0" scaled="0"/>
          </a:gra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2544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</a:rPr>
              <a:t>1 reserva/semana a 800-1.500 €  =  3.200-6.000 €/mes  ·  Con 450 € de inversión  →  ROAS estimado 7x-13x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A1C14"/>
              </a:gs>
            </a:gsLst>
            <a:lin ang="8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TIMELINE — 90 DÍAS AL LANZAMIENTO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Hoja de ruta semana a semana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10652760" cy="36576"/>
          </a:xfrm>
          <a:prstGeom prst="rect">
            <a:avLst/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1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Sem 1</a:t>
            </a:r>
          </a:p>
        </p:txBody>
      </p:sp>
      <p:sp>
        <p:nvSpPr>
          <p:cNvPr id="9" name="Oval 8"/>
          <p:cNvSpPr/>
          <p:nvPr/>
        </p:nvSpPr>
        <p:spPr>
          <a:xfrm>
            <a:off x="1188719" y="2011680"/>
            <a:ext cx="420624" cy="42062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0116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578608"/>
            <a:ext cx="2029968" cy="39319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2578608"/>
            <a:ext cx="2029968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7432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</a:rP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19019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GA4 + Meta Pixel + GTM instalados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C4FF"/>
                </a:solidFill>
              </a:rPr>
              <a:t>Sem 2</a:t>
            </a:r>
          </a:p>
        </p:txBody>
      </p:sp>
      <p:sp>
        <p:nvSpPr>
          <p:cNvPr id="16" name="Oval 15"/>
          <p:cNvSpPr/>
          <p:nvPr/>
        </p:nvSpPr>
        <p:spPr>
          <a:xfrm>
            <a:off x="3218688" y="2011680"/>
            <a:ext cx="420624" cy="420624"/>
          </a:xfrm>
          <a:prstGeom prst="ellipse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20116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578608"/>
            <a:ext cx="2029968" cy="39319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6350">
            <a:solidFill>
              <a:srgbClr val="3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2578608"/>
            <a:ext cx="2029968" cy="64008"/>
          </a:xfrm>
          <a:prstGeom prst="rect">
            <a:avLst/>
          </a:prstGeom>
          <a:solidFill>
            <a:srgbClr val="34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7432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C4FF"/>
                </a:solidFill>
              </a:rPr>
              <a:t>ORGÁNICO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3310128"/>
            <a:ext cx="19019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Instagram + Facebook + WhatsApp 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42"/>
                </a:solidFill>
              </a:rPr>
              <a:t>Sem 3</a:t>
            </a:r>
          </a:p>
        </p:txBody>
      </p:sp>
      <p:sp>
        <p:nvSpPr>
          <p:cNvPr id="23" name="Oval 22"/>
          <p:cNvSpPr/>
          <p:nvPr/>
        </p:nvSpPr>
        <p:spPr>
          <a:xfrm>
            <a:off x="5248656" y="2011680"/>
            <a:ext cx="420624" cy="42062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8656" y="20116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2578608"/>
            <a:ext cx="2029968" cy="39319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36008" y="2578608"/>
            <a:ext cx="2029968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27432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42"/>
                </a:solidFill>
              </a:rPr>
              <a:t>META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3310128"/>
            <a:ext cx="19019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Campaña Awareness con vídeo de la villa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Sem 4</a:t>
            </a:r>
          </a:p>
        </p:txBody>
      </p:sp>
      <p:sp>
        <p:nvSpPr>
          <p:cNvPr id="30" name="Oval 29"/>
          <p:cNvSpPr/>
          <p:nvPr/>
        </p:nvSpPr>
        <p:spPr>
          <a:xfrm>
            <a:off x="7278624" y="2011680"/>
            <a:ext cx="420624" cy="42062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8624" y="20116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65976" y="2578608"/>
            <a:ext cx="2029968" cy="39319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65976" y="2578608"/>
            <a:ext cx="202996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5976" y="27432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GOOGLE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3310128"/>
            <a:ext cx="19019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Search + audiencias remarketing activas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504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5A5F"/>
                </a:solidFill>
              </a:rPr>
              <a:t>Mes 2</a:t>
            </a:r>
          </a:p>
        </p:txBody>
      </p:sp>
      <p:sp>
        <p:nvSpPr>
          <p:cNvPr id="37" name="Oval 36"/>
          <p:cNvSpPr/>
          <p:nvPr/>
        </p:nvSpPr>
        <p:spPr>
          <a:xfrm>
            <a:off x="9308592" y="2011680"/>
            <a:ext cx="420624" cy="420624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20116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95944" y="2578608"/>
            <a:ext cx="2029968" cy="39319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63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95944" y="2578608"/>
            <a:ext cx="2029968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27432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5A5F"/>
                </a:solidFill>
              </a:rPr>
              <a:t>OPTIMIZAR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2" y="3310128"/>
            <a:ext cx="19019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Ajustar con datos. Airbnb al 100%.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4472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518"/>
                </a:solidFill>
              </a:rPr>
              <a:t>Mes 3</a:t>
            </a:r>
          </a:p>
        </p:txBody>
      </p:sp>
      <p:sp>
        <p:nvSpPr>
          <p:cNvPr id="44" name="Oval 43"/>
          <p:cNvSpPr/>
          <p:nvPr/>
        </p:nvSpPr>
        <p:spPr>
          <a:xfrm>
            <a:off x="11338560" y="2011680"/>
            <a:ext cx="420624" cy="420624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38560" y="20116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E0A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25912" y="2578608"/>
            <a:ext cx="2029968" cy="3931920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8700000" scaled="0"/>
          </a:gra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25912" y="2578608"/>
            <a:ext cx="2029968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25912" y="27432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</a:rPr>
              <a:t>ESCALAR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3310128"/>
            <a:ext cx="19019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Email marketing + reseñas + SEO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71610"/>
              </a:gs>
              <a:gs pos="100000">
                <a:srgbClr val="0A2018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gradFill>
            <a:gsLst>
              <a:gs pos="0">
                <a:srgbClr val="050E0A"/>
              </a:gs>
              <a:gs pos="100000">
                <a:srgbClr val="0A1C1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01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Lo que necesitamos hacer esta semana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779008" cy="148132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64008" cy="14813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" y="2167128"/>
            <a:ext cx="530352" cy="53035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1671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E0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856232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Aprobar la landing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350008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Publicar en Netlify o dominio propio. Base de todo el plan digital.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1691640"/>
            <a:ext cx="5779008" cy="148132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691640"/>
            <a:ext cx="64008" cy="14813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9671" y="2167128"/>
            <a:ext cx="530352" cy="530352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1" y="21671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E0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7" y="1856232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Crear cuentas analítica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350008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Google Analytics 4 + Meta Business Manager + Meta Pixel.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55848"/>
            <a:ext cx="5779008" cy="148132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355848"/>
            <a:ext cx="64008" cy="14813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" y="3831335"/>
            <a:ext cx="530352" cy="53035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383133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E0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520440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Definir presupuesto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014215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Mínimo recomendado: 450 €/mes para arrancar con impacto.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79" y="3355848"/>
            <a:ext cx="5779008" cy="148132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3355848"/>
            <a:ext cx="64008" cy="14813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19671" y="3831335"/>
            <a:ext cx="530352" cy="530352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1" y="383133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E0A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7" y="3520440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Crear perfil 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7" y="4014215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6-9 posts con fotos y vídeo de la villa antes de lanzar ads.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020056"/>
            <a:ext cx="5779008" cy="148132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020056"/>
            <a:ext cx="64008" cy="14813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632" y="5495544"/>
            <a:ext cx="530352" cy="53035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549554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E0A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184648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Primera campaña Meta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6784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Vídeo villa-hero.mp4 con audiencia de viajeros internacionales.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79" y="5020056"/>
            <a:ext cx="5779008" cy="1481328"/>
          </a:xfrm>
          <a:prstGeom prst="rect">
            <a:avLst/>
          </a:prstGeom>
          <a:gradFill>
            <a:gsLst>
              <a:gs pos="0">
                <a:srgbClr val="0E2820"/>
              </a:gs>
              <a:gs pos="100000">
                <a:srgbClr val="050E0A"/>
              </a:gs>
            </a:gsLst>
            <a:lin ang="0" scaled="0"/>
          </a:gra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79" y="5020056"/>
            <a:ext cx="64008" cy="14813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19671" y="5495544"/>
            <a:ext cx="530352" cy="530352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1" y="549554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E0A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7" y="5184648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Crear perfil Airbnb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6327" y="56784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Completar al 100% y activar Instant Book desde el primer día.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