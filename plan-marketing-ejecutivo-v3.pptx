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PORTADA
Villa Las Terrenas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0"/>
            <a:ext cx="164592" cy="685800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16752" y="0"/>
            <a:ext cx="6172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320040"/>
            <a:ext cx="3429000" cy="475488"/>
          </a:xfrm>
          <a:prstGeom prst="rect">
            <a:avLst/>
          </a:prstGeom>
          <a:solidFill>
            <a:srgbClr val="FEF3C7"/>
          </a:solidFill>
          <a:ln w="762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3383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5309"/>
                </a:solidFill>
              </a:rPr>
              <a:t>PLAN EJECUTIVO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882"/>
                </a:solidFill>
              </a:rPr>
              <a:t>VILLA LAS TERRENAS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486400" cy="36576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74519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F1F1A"/>
                </a:solidFill>
              </a:rPr>
              <a:t>ESTRATEGIA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72491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EA882"/>
                </a:solidFill>
              </a:rPr>
              <a:t>DE MARKETING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67328"/>
            <a:ext cx="548640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913632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C78"/>
                </a:solidFill>
              </a:rPr>
              <a:t>Plan integral 360°: presencia digital propia,
campañas de pago y plataformas OTA para
llenar el calendario de reservas.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16752" y="6217920"/>
            <a:ext cx="6172200" cy="64008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6236208"/>
            <a:ext cx="6172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Meta Ads  ·  Google Ads  ·  GA4  ·  Instagram  ·  Airbnb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 DEL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7899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882"/>
                </a:solidFill>
              </a:rPr>
              <a:t>UNA META CLARA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F1F1A"/>
                </a:solidFill>
              </a:rPr>
              <a:t>Llenar el calendario
de reservas.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913632"/>
            <a:ext cx="7818120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041648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C78"/>
                </a:solidFill>
              </a:rPr>
              <a:t>Presencia digital propia + OTAs + campañas de pago =
marca reconocible que genera reservas directas recurrentes.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960120"/>
            <a:ext cx="3547872" cy="2743200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960120"/>
            <a:ext cx="354787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11679"/>
            <a:ext cx="3547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77439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PISCINA
foto_4.jpeg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886200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59352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EA882"/>
                </a:solidFill>
              </a:rPr>
              <a:t>500+/mes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526280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C78"/>
                </a:solidFill>
              </a:rPr>
              <a:t>Visitas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22992" y="3886200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3959352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EA882"/>
                </a:solidFill>
              </a:rPr>
              <a:t>&gt;2%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4526280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C78"/>
                </a:solidFill>
              </a:rPr>
              <a:t>Conversión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5184648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525780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EA882"/>
                </a:solidFill>
              </a:rPr>
              <a:t>&lt;15€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824728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C78"/>
                </a:solidFill>
              </a:rPr>
              <a:t>Coste/Lead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22992" y="5184648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5257800"/>
            <a:ext cx="1664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EA882"/>
                </a:solidFill>
              </a:rPr>
              <a:t>&gt;3x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5824728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C78"/>
                </a:solidFill>
              </a:rPr>
              <a:t>ROAS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0F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309360"/>
            <a:ext cx="11640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GA4 · Meta Pixel · Google Tag Manager · Evento Lead · 0 € de coste de herramientas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PLAN EN 5 FASES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1945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</a:rPr>
              <a:t>  ·  De cero a reservas recurrentes en 90 días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1920240"/>
          </a:xfrm>
          <a:prstGeom prst="rect">
            <a:avLst/>
          </a:prstGeom>
          <a:gradFill>
            <a:gsLst>
              <a:gs pos="0">
                <a:srgbClr val="F0EBE1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16002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659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VILLA EXTERIOR
galeria_01.jpeg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60120"/>
            <a:ext cx="12188952" cy="192024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AF7F2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024128"/>
            <a:ext cx="2212848" cy="1737360"/>
          </a:xfrm>
          <a:prstGeom prst="rect">
            <a:avLst/>
          </a:prstGeom>
          <a:solidFill>
            <a:srgbClr val="E0F7F3"/>
          </a:solidFill>
          <a:ln w="1270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24128"/>
            <a:ext cx="2212848" cy="73152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15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A882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INFRAESTRUCTURA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128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Tracking y analítica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3472" y="1024128"/>
            <a:ext cx="2212848" cy="1737360"/>
          </a:xfrm>
          <a:prstGeom prst="rect">
            <a:avLst/>
          </a:prstGeom>
          <a:solidFill>
            <a:srgbClr val="EBF5FF"/>
          </a:solidFill>
          <a:ln w="1270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33472" y="1024128"/>
            <a:ext cx="2212848" cy="7315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115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877F2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PRESENCIA
ORGÁNICA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2128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Redes y comunidad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0912" y="1024128"/>
            <a:ext cx="2212848" cy="1737360"/>
          </a:xfrm>
          <a:prstGeom prst="rect">
            <a:avLst/>
          </a:prstGeom>
          <a:solidFill>
            <a:srgbClr val="FEE2E0"/>
          </a:solidFill>
          <a:ln w="12700">
            <a:solidFill>
              <a:srgbClr val="E5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10912" y="1024128"/>
            <a:ext cx="2212848" cy="73152"/>
          </a:xfrm>
          <a:prstGeom prst="rect">
            <a:avLst/>
          </a:prstGeom>
          <a:solidFill>
            <a:srgbClr val="E5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115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5B4D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META 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2128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Instagram / Facebook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1024128"/>
            <a:ext cx="2212848" cy="1737360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1024128"/>
            <a:ext cx="2212848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1115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GOOGLE 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2128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Búsquedas de intención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65792" y="1024128"/>
            <a:ext cx="2212848" cy="1737360"/>
          </a:xfrm>
          <a:prstGeom prst="rect">
            <a:avLst/>
          </a:prstGeom>
          <a:solidFill>
            <a:srgbClr val="FFF0F0"/>
          </a:solidFill>
          <a:ln w="12700">
            <a:solidFill>
              <a:srgbClr val="E5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65792" y="1024128"/>
            <a:ext cx="2212848" cy="73152"/>
          </a:xfrm>
          <a:prstGeom prst="rect">
            <a:avLst/>
          </a:prstGeom>
          <a:solidFill>
            <a:srgbClr val="E54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19" y="11155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434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AIRBNB &amp; OTAs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22128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Plataformas globales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30906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882"/>
                </a:solidFill>
              </a:rPr>
              <a:t>LA VILLA EN IMÁGENES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493008"/>
            <a:ext cx="1828800" cy="3108960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349300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5093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PISCINA
foto_4.jpeg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9424" y="3493008"/>
            <a:ext cx="1828800" cy="3108960"/>
          </a:xfrm>
          <a:prstGeom prst="rect">
            <a:avLst/>
          </a:prstGeom>
          <a:gradFill>
            <a:gsLst>
              <a:gs pos="0">
                <a:srgbClr val="F0EBE1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49424" y="349300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9424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9424" y="5093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EXTERIOR
galeria_01.jpeg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42816" y="3493008"/>
            <a:ext cx="1828800" cy="3108960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42816" y="349300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42816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42816" y="5093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SALÓN
galeria_08.jpeg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6208" y="3493008"/>
            <a:ext cx="1828800" cy="3108960"/>
          </a:xfrm>
          <a:prstGeom prst="rect">
            <a:avLst/>
          </a:prstGeom>
          <a:gradFill>
            <a:gsLst>
              <a:gs pos="0">
                <a:srgbClr val="F0EBE1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36208" y="349300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5093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COCINA
galeria_09.jpeg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493008"/>
            <a:ext cx="1828800" cy="3108960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49300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093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PLAYA
galeria_12.jpeg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22992" y="3493008"/>
            <a:ext cx="1828800" cy="3108960"/>
          </a:xfrm>
          <a:prstGeom prst="rect">
            <a:avLst/>
          </a:prstGeom>
          <a:gradFill>
            <a:gsLst>
              <a:gs pos="0">
                <a:srgbClr val="F0EBE1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22992" y="349300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22992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22992" y="5093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TERRAZA
galeria_05.jpeg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01  · 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194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D4BF"/>
                </a:solidFill>
              </a:rPr>
              <a:t>Semana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0F7F3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9748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F1A"/>
                </a:solidFill>
              </a:rPr>
              <a:t>La base
técnica.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78"/>
                </a:solidFill>
              </a:rPr>
              <a:t>Sin tracking no hay datos.
Sin datos no hay decisiones inteligentes.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166360"/>
            <a:ext cx="4160520" cy="45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5257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45309"/>
                </a:solidFill>
              </a:rPr>
              <a:t>Todo gratuito · GA4 + Meta + GTM = 0 €/mes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78992"/>
            <a:ext cx="3520440" cy="2395728"/>
          </a:xfrm>
          <a:prstGeom prst="rect">
            <a:avLst/>
          </a:prstGeom>
          <a:solidFill>
            <a:srgbClr val="E0F7F3"/>
          </a:solidFill>
          <a:ln w="1016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078992"/>
            <a:ext cx="3520440" cy="73152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618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Google Analytics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288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C78"/>
                </a:solidFill>
              </a:rPr>
              <a:t>Cada visita rastreada: origen, tiempo, dispositivo.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078992"/>
            <a:ext cx="3520440" cy="2395728"/>
          </a:xfrm>
          <a:prstGeom prst="rect">
            <a:avLst/>
          </a:prstGeom>
          <a:solidFill>
            <a:srgbClr val="EBF5FF"/>
          </a:solidFill>
          <a:ln w="1016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078992"/>
            <a:ext cx="3520440" cy="7315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12618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Meta Pixel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18288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C78"/>
                </a:solidFill>
              </a:rPr>
              <a:t>Identifica visitantes para reimpactarlos en Instagram/Facebook.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712463"/>
            <a:ext cx="3520440" cy="2395728"/>
          </a:xfrm>
          <a:prstGeom prst="rect">
            <a:avLst/>
          </a:prstGeom>
          <a:solidFill>
            <a:srgbClr val="E0F7F3"/>
          </a:solidFill>
          <a:ln w="1016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712463"/>
            <a:ext cx="3520440" cy="73152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8953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Google Tag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462272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C78"/>
                </a:solidFill>
              </a:rPr>
              <a:t>Gestión centralizada de todos los píxeles.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712463"/>
            <a:ext cx="3520440" cy="2395728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3712463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59" y="38953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Evento 'Lead'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4462272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C78"/>
                </a:solidFill>
              </a:rPr>
              <a:t>Formulario enviado → evento en GA4 y Meta → CPL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02  ·  PRESENCIA ORGÁNICA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194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D4BF"/>
                </a:solidFill>
              </a:rPr>
              <a:t>Semanas 1-2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5029200" cy="5468112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50292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493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858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INSTAGRAM
Villa / Piscina / Exterior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914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DFD0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011680"/>
            <a:ext cx="6126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F1A"/>
                </a:solidFill>
              </a:rPr>
              <a:t>Primeros leads
sin pagar.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429000"/>
            <a:ext cx="6035040" cy="45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3703320"/>
            <a:ext cx="292608" cy="292608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6484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7764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Perfil @VillaLasTerrenas + Reels con villa-hero.mp4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4453128"/>
            <a:ext cx="292608" cy="29260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3982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Facebook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2744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Página de empresa + grupos de viajeros y expats en RD</a:t>
            </a:r>
          </a:p>
        </p:txBody>
      </p:sp>
      <p:sp>
        <p:nvSpPr>
          <p:cNvPr id="18" name="Oval 17"/>
          <p:cNvSpPr/>
          <p:nvPr/>
        </p:nvSpPr>
        <p:spPr>
          <a:xfrm>
            <a:off x="5760720" y="5202936"/>
            <a:ext cx="292608" cy="292608"/>
          </a:xfrm>
          <a:prstGeom prst="ellipse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5148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TikTok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47725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Vídeo villa con potencial de alcance orgánico masivo</a:t>
            </a:r>
          </a:p>
        </p:txBody>
      </p:sp>
      <p:sp>
        <p:nvSpPr>
          <p:cNvPr id="21" name="Oval 20"/>
          <p:cNvSpPr/>
          <p:nvPr/>
        </p:nvSpPr>
        <p:spPr>
          <a:xfrm>
            <a:off x="5760720" y="5952744"/>
            <a:ext cx="292608" cy="292608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5897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WhatsApp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22706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Canal directo de cierre + catálogo con fotos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5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03  ·  META ADS  ·  Instagram + Facebook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194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300-500 €/mes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EE2E0"/>
                </a:solidFill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670048"/>
            <a:ext cx="5577840" cy="3977639"/>
          </a:xfrm>
          <a:prstGeom prst="rect">
            <a:avLst/>
          </a:prstGeom>
          <a:solidFill>
            <a:srgbClr val="E0F7F3"/>
          </a:solidFill>
          <a:ln w="1524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670048"/>
            <a:ext cx="5577840" cy="9144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670048"/>
            <a:ext cx="5577840" cy="1664208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670048"/>
            <a:ext cx="557784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1821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547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AWARENESS
Video / Carrusel piscina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074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F1A"/>
                </a:solidFill>
              </a:rPr>
              <a:t>CAMPAÑA 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19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882"/>
                </a:solidFill>
              </a:rPr>
              <a:t>Objetivo: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4919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78"/>
                </a:solidFill>
              </a:rPr>
              <a:t>Reconocimiento de marca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68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882"/>
                </a:solidFill>
              </a:rPr>
              <a:t>Formato: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78"/>
                </a:solidFill>
              </a:rPr>
              <a:t>Vídeo villa + carrusel fotos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882"/>
                </a:solidFill>
              </a:rPr>
              <a:t>Audiencia: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6016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78"/>
                </a:solidFill>
              </a:rPr>
              <a:t>RD · España · Francia · UK · USA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670048"/>
            <a:ext cx="5577840" cy="3977639"/>
          </a:xfrm>
          <a:prstGeom prst="rect">
            <a:avLst/>
          </a:prstGeom>
          <a:solidFill>
            <a:srgbClr val="FEE2E0"/>
          </a:solidFill>
          <a:ln w="15240">
            <a:solidFill>
              <a:srgbClr val="E5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670048"/>
            <a:ext cx="5577840" cy="91440"/>
          </a:xfrm>
          <a:prstGeom prst="rect">
            <a:avLst/>
          </a:prstGeom>
          <a:solidFill>
            <a:srgbClr val="E5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670048"/>
            <a:ext cx="5577840" cy="1664208"/>
          </a:xfrm>
          <a:prstGeom prst="rect">
            <a:avLst/>
          </a:prstGeom>
          <a:gradFill>
            <a:gsLst>
              <a:gs pos="0">
                <a:srgbClr val="FEE2E0"/>
              </a:gs>
              <a:gs pos="100000">
                <a:srgbClr val="FECACA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670048"/>
            <a:ext cx="557784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1821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47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CONVERSIÓN
Story vertical piscina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074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F1A"/>
                </a:solidFill>
              </a:rPr>
              <a:t>CAMPAÑA CONVERSIÓN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19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5B4D"/>
                </a:solidFill>
              </a:rPr>
              <a:t>Objetivo: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4919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78"/>
                </a:solidFill>
              </a:rPr>
              <a:t>Tráfico → formulario →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68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5B4D"/>
                </a:solidFill>
              </a:rPr>
              <a:t>Formato: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78"/>
                </a:solidFill>
              </a:rPr>
              <a:t>Story vertical + CTA directo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6016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5B4D"/>
                </a:solidFill>
              </a:rPr>
              <a:t>Audiencia: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6016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78"/>
                </a:solidFill>
              </a:rPr>
              <a:t>Visitantes de la landing (Meta Pixel)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04  ·  GOOGLE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194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150-300 €/mes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828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E9D5FF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4884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F1A"/>
                </a:solidFill>
              </a:rPr>
              <a:t>Alta intención
de reserva.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4564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78"/>
                </a:solidFill>
              </a:rPr>
              <a:t>Google captura al viajero en el momento exacto
en que busca 'villa alquiler Las Terrenas'.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78992"/>
            <a:ext cx="6309360" cy="1719072"/>
          </a:xfrm>
          <a:prstGeom prst="rect">
            <a:avLst/>
          </a:prstGeom>
          <a:solidFill>
            <a:srgbClr val="F3EE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078992"/>
            <a:ext cx="91440" cy="17190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243584"/>
            <a:ext cx="5897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737360"/>
            <a:ext cx="5897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C78"/>
                </a:solidFill>
              </a:rPr>
              <a:t>Capturamos al viajero cuando busca activamente. La intención de reserva es máxima.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980944"/>
            <a:ext cx="6309360" cy="1719072"/>
          </a:xfrm>
          <a:prstGeom prst="rect">
            <a:avLst/>
          </a:prstGeom>
          <a:solidFill>
            <a:srgbClr val="FEE2E0"/>
          </a:solidFill>
          <a:ln w="10160">
            <a:solidFill>
              <a:srgbClr val="E5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2980944"/>
            <a:ext cx="91440" cy="1719072"/>
          </a:xfrm>
          <a:prstGeom prst="rect">
            <a:avLst/>
          </a:prstGeom>
          <a:solidFill>
            <a:srgbClr val="E5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3145536"/>
            <a:ext cx="5897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DISPLAY &amp; YOUTUBE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639311"/>
            <a:ext cx="5897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C78"/>
                </a:solidFill>
              </a:rPr>
              <a:t>Banners y vídeos cortos a quienes visitaron la landing pero no reservaron.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4882896"/>
            <a:ext cx="6309360" cy="1719072"/>
          </a:xfrm>
          <a:prstGeom prst="rect">
            <a:avLst/>
          </a:prstGeom>
          <a:solidFill>
            <a:srgbClr val="E0F7F3"/>
          </a:solidFill>
          <a:ln w="1016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4882896"/>
            <a:ext cx="91440" cy="1719072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5047488"/>
            <a:ext cx="5897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SEO  (0€)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5541264"/>
            <a:ext cx="5897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C78"/>
                </a:solidFill>
              </a:rPr>
              <a:t>Optimizamos la landing con Schema de alojamiento para aparecer en Google orgánicamente.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54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FASE 05  ·  AIRBNB &amp; 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1945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Sin inversión directa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828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ECDD3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488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F1A"/>
                </a:solidFill>
              </a:rPr>
              <a:t>Visibilidad
global.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93008"/>
            <a:ext cx="5349240" cy="45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785615"/>
            <a:ext cx="274320" cy="274320"/>
          </a:xfrm>
          <a:prstGeom prst="ellipse">
            <a:avLst/>
          </a:prstGeom>
          <a:solidFill>
            <a:srgbClr val="E54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71246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Airbnb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41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Perfil 100% + Instant Book = más visibilidad en el algoritmo.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4517136"/>
            <a:ext cx="274320" cy="274320"/>
          </a:xfrm>
          <a:prstGeom prst="ellipse">
            <a:avLst/>
          </a:prstGeom>
          <a:solidFill>
            <a:srgbClr val="003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44398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Booking.com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73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Viajeros europeos de alto poder adquisitivo.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" y="5248655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17550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Reseñas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5046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3-5 primeras reseñas = posicionamiento en ambas plataformas.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" y="5980176"/>
            <a:ext cx="274320" cy="274320"/>
          </a:xfrm>
          <a:prstGeom prst="ellipse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907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Estrategia directa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2362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Airbnb capta → landing fideliza → 0% comisión en reservas directas.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960120"/>
            <a:ext cx="6080760" cy="5870448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F0EBE1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960120"/>
            <a:ext cx="60807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575303"/>
            <a:ext cx="6080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941063"/>
            <a:ext cx="6080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VILLA
galeria_07.jpeg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REMARKETING  —  Recuperar a quien no reservó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78992"/>
            <a:ext cx="11640312" cy="1664208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3200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97%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61872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de los visitantes NO reserva en la primera visita.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0195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F2EB"/>
                </a:solidFill>
              </a:rPr>
              <a:t>El remarketing los recupera al menor coste del plan completo.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07792"/>
            <a:ext cx="3749039" cy="1481328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907792"/>
            <a:ext cx="3749039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32841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9417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REMARKETING
Carrusel piscina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407408"/>
            <a:ext cx="3749039" cy="2304288"/>
          </a:xfrm>
          <a:prstGeom prst="rect">
            <a:avLst/>
          </a:prstGeom>
          <a:solidFill>
            <a:srgbClr val="E0F7F3"/>
          </a:solidFill>
          <a:ln w="1016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5262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META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5047488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Anuncios en Instagram y Facebook a visitantes de la landing que no rellenaron el formulario.
El Pixel los identifica automáticamente — sin trabajo manual.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2907792"/>
            <a:ext cx="3749039" cy="1481328"/>
          </a:xfrm>
          <a:prstGeom prst="rect">
            <a:avLst/>
          </a:prstGeom>
          <a:gradFill>
            <a:gsLst>
              <a:gs pos="0">
                <a:srgbClr val="F3EEFF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1104" y="2907792"/>
            <a:ext cx="3749039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332841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369417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DISPLAY
galeria_03.jpeg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4407408"/>
            <a:ext cx="3749039" cy="2304288"/>
          </a:xfrm>
          <a:prstGeom prst="rect">
            <a:avLst/>
          </a:prstGeom>
          <a:solidFill>
            <a:srgbClr val="F3EE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45262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GOOGLE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5047488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Banners en millones de webs + vídeo 15s en YouTube.
Aparece mientras el usuario navega buscando otras cosas.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8" y="2907792"/>
            <a:ext cx="3749039" cy="1481328"/>
          </a:xfrm>
          <a:prstGeom prst="rect">
            <a:avLst/>
          </a:prstGeom>
          <a:gradFill>
            <a:gsLst>
              <a:gs pos="0">
                <a:srgbClr val="FEF3C7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47888" y="2907792"/>
            <a:ext cx="3749039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32841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369417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EMAIL
galeria_05.jpeg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47888" y="4407408"/>
            <a:ext cx="3749039" cy="2304288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5262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F1A"/>
                </a:solidFill>
              </a:rPr>
              <a:t>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47488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Secuencia 3 emails: 24h → 3 días → 7 días.
Mailchimp gratuito hasta 500 contactos.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INVERSIÓN Y RETORNO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303520" cy="589788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2588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7x–13x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944368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F2EB"/>
                </a:solidFill>
              </a:rPr>
              <a:t>ROAS ESTIMADO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58444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3703320"/>
            <a:ext cx="4892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 reserva / semana
a 800-1.500 €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553712"/>
            <a:ext cx="4892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F2EB"/>
                </a:solidFill>
              </a:rPr>
              <a:t>= 3.200 – 6.000 €/mes
con tan solo 450 € de inversión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86400"/>
            <a:ext cx="4754880" cy="868680"/>
          </a:xfrm>
          <a:prstGeom prst="rect">
            <a:avLst/>
          </a:prstGeom>
          <a:gradFill>
            <a:gsLst>
              <a:gs pos="0">
                <a:srgbClr val="0A6B55"/>
              </a:gs>
              <a:gs pos="100000">
                <a:srgbClr val="0EA882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5486400"/>
            <a:ext cx="4754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56007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9664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VILLA · galeria_02.jpeg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078992"/>
            <a:ext cx="3017520" cy="4864608"/>
          </a:xfrm>
          <a:prstGeom prst="rect">
            <a:avLst/>
          </a:prstGeom>
          <a:solidFill>
            <a:srgbClr val="E0F7F3"/>
          </a:solidFill>
          <a:ln w="1524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078992"/>
            <a:ext cx="3017520" cy="109728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2618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F1A"/>
                </a:solidFill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7190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C78"/>
                </a:solidFill>
              </a:rPr>
              <a:t>Mes 1-2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176272"/>
            <a:ext cx="2816352" cy="2286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23042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F1A"/>
                </a:solidFill>
              </a:rPr>
              <a:t>Meta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30428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1F1A"/>
                </a:solidFill>
              </a:rPr>
              <a:t>300 €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296265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F1A"/>
                </a:solidFill>
              </a:rPr>
              <a:t>Google 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2962656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1F1A"/>
                </a:solidFill>
              </a:rPr>
              <a:t>150 €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36210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F1A"/>
                </a:solidFill>
              </a:rPr>
              <a:t>Herramientas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621024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1F1A"/>
                </a:solidFill>
              </a:rPr>
              <a:t>0 €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4315968"/>
            <a:ext cx="2816352" cy="2286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44622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882"/>
                </a:solidFill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462272"/>
            <a:ext cx="1417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EA882"/>
                </a:solidFill>
              </a:rPr>
              <a:t>~450 €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96528" y="1078992"/>
            <a:ext cx="3154680" cy="4864608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96528" y="1078992"/>
            <a:ext cx="31546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6528" y="126187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F1A"/>
                </a:solidFill>
              </a:rPr>
              <a:t>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17190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C78"/>
                </a:solidFill>
              </a:rPr>
              <a:t>Mes 3+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87968" y="2176272"/>
            <a:ext cx="2953511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6256" y="230428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F1A"/>
                </a:solidFill>
              </a:rPr>
              <a:t>Meta 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80192" y="23042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1F1A"/>
                </a:solidFill>
              </a:rPr>
              <a:t>500 €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296265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F1A"/>
                </a:solidFill>
              </a:rPr>
              <a:t>Google 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80192" y="296265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1F1A"/>
                </a:solidFill>
              </a:rPr>
              <a:t>300 €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6256" y="362102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F1A"/>
                </a:solidFill>
              </a:rPr>
              <a:t>Email/Auto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0192" y="362102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1F1A"/>
                </a:solidFill>
              </a:rPr>
              <a:t>50 €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87968" y="4315968"/>
            <a:ext cx="2953511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6256" y="4462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80192" y="4462272"/>
            <a:ext cx="1417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97706"/>
                </a:solidFill>
              </a:rPr>
              <a:t>~850 €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6108192"/>
            <a:ext cx="6464808" cy="566928"/>
          </a:xfrm>
          <a:prstGeom prst="rect">
            <a:avLst/>
          </a:prstGeom>
          <a:solidFill>
            <a:srgbClr val="0F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6126480"/>
            <a:ext cx="6464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Herramientas (GA4 · GTM · Meta Pixel) = 0 € · 100% gratuitas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TIMELINE — 90 DÍAS AL LANZAMIENTO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1828800" cy="1828800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618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TRACKING
Sem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024128"/>
            <a:ext cx="1828800" cy="64008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4560" y="1024128"/>
            <a:ext cx="1828800" cy="1828800"/>
          </a:xfrm>
          <a:prstGeom prst="rect">
            <a:avLst/>
          </a:prstGeom>
          <a:gradFill>
            <a:gsLst>
              <a:gs pos="0">
                <a:srgbClr val="EBF5FF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102412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618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ORGÁNICO
Sem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024128"/>
            <a:ext cx="1828800" cy="6400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024128"/>
            <a:ext cx="1828800" cy="1828800"/>
          </a:xfrm>
          <a:prstGeom prst="rect">
            <a:avLst/>
          </a:prstGeom>
          <a:gradFill>
            <a:gsLst>
              <a:gs pos="0">
                <a:srgbClr val="FEE2E0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02412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1618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META ADS
Sem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7952" y="1024128"/>
            <a:ext cx="1828800" cy="64008"/>
          </a:xfrm>
          <a:prstGeom prst="rect">
            <a:avLst/>
          </a:prstGeom>
          <a:solidFill>
            <a:srgbClr val="E5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024128"/>
            <a:ext cx="1828800" cy="1828800"/>
          </a:xfrm>
          <a:prstGeom prst="rect">
            <a:avLst/>
          </a:prstGeom>
          <a:gradFill>
            <a:gsLst>
              <a:gs pos="0">
                <a:srgbClr val="F3EEFF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02412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618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GOOGLE
Sem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1024128"/>
            <a:ext cx="18288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6" y="1024128"/>
            <a:ext cx="1828800" cy="1828800"/>
          </a:xfrm>
          <a:prstGeom prst="rect">
            <a:avLst/>
          </a:prstGeom>
          <a:gradFill>
            <a:gsLst>
              <a:gs pos="0">
                <a:srgbClr val="FEE2E0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6" y="102412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1618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OPTIMIZAR
Mes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4736" y="1024128"/>
            <a:ext cx="1828800" cy="64008"/>
          </a:xfrm>
          <a:prstGeom prst="rect">
            <a:avLst/>
          </a:prstGeom>
          <a:solidFill>
            <a:srgbClr val="E54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68128" y="1024128"/>
            <a:ext cx="1828800" cy="1828800"/>
          </a:xfrm>
          <a:prstGeom prst="rect">
            <a:avLst/>
          </a:prstGeom>
          <a:gradFill>
            <a:gsLst>
              <a:gs pos="0">
                <a:srgbClr val="FEF3C7"/>
              </a:gs>
              <a:gs pos="100000">
                <a:srgbClr val="E8DFD0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68128" y="1024128"/>
            <a:ext cx="18288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8128" y="1618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1984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ESCALAR
Mes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68128" y="1024128"/>
            <a:ext cx="182880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1168" y="2999232"/>
            <a:ext cx="11795759" cy="54864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5256" y="2852928"/>
            <a:ext cx="384048" cy="384048"/>
          </a:xfrm>
          <a:prstGeom prst="ellipse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2852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" y="3401568"/>
            <a:ext cx="1828800" cy="3182112"/>
          </a:xfrm>
          <a:prstGeom prst="rect">
            <a:avLst/>
          </a:prstGeom>
          <a:solidFill>
            <a:srgbClr val="E0F7F3"/>
          </a:solidFill>
          <a:ln w="762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3520440"/>
            <a:ext cx="16459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F1A"/>
                </a:solidFill>
              </a:rPr>
              <a:t>GA4 + Meta Pixel
+ GTM instalados.</a:t>
            </a:r>
          </a:p>
        </p:txBody>
      </p:sp>
      <p:sp>
        <p:nvSpPr>
          <p:cNvPr id="39" name="Oval 38"/>
          <p:cNvSpPr/>
          <p:nvPr/>
        </p:nvSpPr>
        <p:spPr>
          <a:xfrm>
            <a:off x="2898648" y="2852928"/>
            <a:ext cx="384048" cy="38404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98648" y="2852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401568"/>
            <a:ext cx="1828800" cy="3182112"/>
          </a:xfrm>
          <a:prstGeom prst="rect">
            <a:avLst/>
          </a:prstGeom>
          <a:solidFill>
            <a:srgbClr val="EBF5FF"/>
          </a:solidFill>
          <a:ln w="762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" y="3520440"/>
            <a:ext cx="16459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F1A"/>
                </a:solidFill>
              </a:rPr>
              <a:t>Instagram + Facebook
+ WhatsApp Business.</a:t>
            </a:r>
          </a:p>
        </p:txBody>
      </p:sp>
      <p:sp>
        <p:nvSpPr>
          <p:cNvPr id="43" name="Oval 42"/>
          <p:cNvSpPr/>
          <p:nvPr/>
        </p:nvSpPr>
        <p:spPr>
          <a:xfrm>
            <a:off x="4892040" y="2852928"/>
            <a:ext cx="384048" cy="384048"/>
          </a:xfrm>
          <a:prstGeom prst="ellipse">
            <a:avLst/>
          </a:prstGeom>
          <a:solidFill>
            <a:srgbClr val="E5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2852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87952" y="3401568"/>
            <a:ext cx="1828800" cy="3182112"/>
          </a:xfrm>
          <a:prstGeom prst="rect">
            <a:avLst/>
          </a:prstGeom>
          <a:solidFill>
            <a:srgbClr val="FEE2E0"/>
          </a:solidFill>
          <a:ln w="7620">
            <a:solidFill>
              <a:srgbClr val="E5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9392" y="3520440"/>
            <a:ext cx="16459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F1A"/>
                </a:solidFill>
              </a:rPr>
              <a:t>Campaña Awareness
con vídeo villa.</a:t>
            </a:r>
          </a:p>
        </p:txBody>
      </p:sp>
      <p:sp>
        <p:nvSpPr>
          <p:cNvPr id="47" name="Oval 46"/>
          <p:cNvSpPr/>
          <p:nvPr/>
        </p:nvSpPr>
        <p:spPr>
          <a:xfrm>
            <a:off x="6885432" y="285292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85432" y="2852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1344" y="3401568"/>
            <a:ext cx="1828800" cy="3182112"/>
          </a:xfrm>
          <a:prstGeom prst="rect">
            <a:avLst/>
          </a:prstGeom>
          <a:solidFill>
            <a:srgbClr val="F3EEFF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2784" y="3520440"/>
            <a:ext cx="16459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F1A"/>
                </a:solidFill>
              </a:rPr>
              <a:t>Search + audiencias
remarketing activas.</a:t>
            </a:r>
          </a:p>
        </p:txBody>
      </p:sp>
      <p:sp>
        <p:nvSpPr>
          <p:cNvPr id="51" name="Oval 50"/>
          <p:cNvSpPr/>
          <p:nvPr/>
        </p:nvSpPr>
        <p:spPr>
          <a:xfrm>
            <a:off x="8878824" y="2852928"/>
            <a:ext cx="384048" cy="384048"/>
          </a:xfrm>
          <a:prstGeom prst="ellipse">
            <a:avLst/>
          </a:prstGeom>
          <a:solidFill>
            <a:srgbClr val="E54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78824" y="2852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74736" y="3401568"/>
            <a:ext cx="1828800" cy="3182112"/>
          </a:xfrm>
          <a:prstGeom prst="rect">
            <a:avLst/>
          </a:prstGeom>
          <a:solidFill>
            <a:srgbClr val="FEE2E0"/>
          </a:solidFill>
          <a:ln w="7620">
            <a:solidFill>
              <a:srgbClr val="E54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6176" y="3520440"/>
            <a:ext cx="16459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F1A"/>
                </a:solidFill>
              </a:rPr>
              <a:t>Optimizar con datos.
Airbnb al 100%.</a:t>
            </a:r>
          </a:p>
        </p:txBody>
      </p:sp>
      <p:sp>
        <p:nvSpPr>
          <p:cNvPr id="55" name="Oval 54"/>
          <p:cNvSpPr/>
          <p:nvPr/>
        </p:nvSpPr>
        <p:spPr>
          <a:xfrm>
            <a:off x="10872216" y="2852928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72216" y="2852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68128" y="3401568"/>
            <a:ext cx="1828800" cy="3182112"/>
          </a:xfrm>
          <a:prstGeom prst="rect">
            <a:avLst/>
          </a:prstGeom>
          <a:solidFill>
            <a:srgbClr val="FEF3C7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59568" y="3520440"/>
            <a:ext cx="16459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F1A"/>
                </a:solidFill>
              </a:rPr>
              <a:t>Email marketing
+ reseñas + SEO.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PRÓXIMOS PASOS  —  Esta semana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78992"/>
            <a:ext cx="4389120" cy="4864608"/>
          </a:xfrm>
          <a:prstGeom prst="rect">
            <a:avLst/>
          </a:prstGeom>
          <a:gradFill>
            <a:gsLst>
              <a:gs pos="0">
                <a:srgbClr val="E0F7F3"/>
              </a:gs>
              <a:gs pos="100000">
                <a:srgbClr val="CCF2EB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438912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1912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6B55"/>
                </a:solidFill>
              </a:rPr>
              <a:t>[ INSERTAR FOTO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557015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C78"/>
                </a:solidFill>
              </a:rPr>
              <a:t>FOTO PISCINA
foto_4.jpeg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961888"/>
            <a:ext cx="4389120" cy="713232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998464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</a:rPr>
              <a:t>Tu villa, completamente reservada.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115568"/>
            <a:ext cx="3337560" cy="1481328"/>
          </a:xfrm>
          <a:prstGeom prst="rect">
            <a:avLst/>
          </a:prstGeom>
          <a:solidFill>
            <a:srgbClr val="E0F7F3"/>
          </a:solidFill>
          <a:ln w="1016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115568"/>
            <a:ext cx="73152" cy="1481328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11496" y="1572768"/>
            <a:ext cx="438912" cy="438912"/>
          </a:xfrm>
          <a:prstGeom prst="ellipse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15727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252728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Aprobar la landing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773936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Publicar en Netlify o dominio propio.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31352" y="1115568"/>
            <a:ext cx="3337560" cy="1481328"/>
          </a:xfrm>
          <a:prstGeom prst="rect">
            <a:avLst/>
          </a:prstGeom>
          <a:solidFill>
            <a:srgbClr val="E0F7F3"/>
          </a:solidFill>
          <a:ln w="1016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1352" y="1115568"/>
            <a:ext cx="73152" cy="1481328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59368" y="1572768"/>
            <a:ext cx="438912" cy="438912"/>
          </a:xfrm>
          <a:prstGeom prst="ellipse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9368" y="15727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252728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Crear GA4 + Meta Pixel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1773936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Copiar IDs y añadir a todos los HTMLs.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2779776"/>
            <a:ext cx="3337560" cy="1481328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2779776"/>
            <a:ext cx="73152" cy="14813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496" y="3236976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32369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916936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Definir presupuesto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438144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Mínimo recomendado: 450 €/mes.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31352" y="2779776"/>
            <a:ext cx="3337560" cy="1481328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1352" y="2779776"/>
            <a:ext cx="73152" cy="14813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59368" y="3236976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9368" y="32369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2916936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Perfil Instagram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3438144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6-9 posts con fotos y vídeo antes de lanzar ads.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4443984"/>
            <a:ext cx="3337560" cy="1481328"/>
          </a:xfrm>
          <a:prstGeom prst="rect">
            <a:avLst/>
          </a:prstGeom>
          <a:solidFill>
            <a:srgbClr val="E0F7F3"/>
          </a:solidFill>
          <a:ln w="10160">
            <a:solidFill>
              <a:srgbClr val="0E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83480" y="4443984"/>
            <a:ext cx="73152" cy="1481328"/>
          </a:xfrm>
          <a:prstGeom prst="rect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496" y="4901184"/>
            <a:ext cx="438912" cy="438912"/>
          </a:xfrm>
          <a:prstGeom prst="ellipse">
            <a:avLst/>
          </a:prstGeom>
          <a:solidFill>
            <a:srgbClr val="0E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11496" y="49011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58114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Primera campaña Meta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102352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Vídeo villa con audiencia de viajeros internacionales.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31352" y="4443984"/>
            <a:ext cx="3337560" cy="1481328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31352" y="4443984"/>
            <a:ext cx="73152" cy="14813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659368" y="4901184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9368" y="49011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4581144"/>
            <a:ext cx="2542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1A"/>
                </a:solidFill>
              </a:rPr>
              <a:t>Perfil Airbnb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5102352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C78"/>
                </a:solidFill>
              </a:rPr>
              <a:t>Completar al 100% + Instant Book activo.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