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PLAN DE LANZAMIENTO DE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DD4BF"/>
                </a:solidFill>
              </a:rPr>
              <a:t>Villa Las Terrenas · Dominican Republic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0E8"/>
                </a:solidFill>
              </a:rPr>
              <a:t>Estrategia 360° · Meta Ads · Google Ads · GA4 · TikTok · Remarketing · OTAs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7B8B"/>
                </a:solidFill>
              </a:rPr>
              <a:t>2026 ·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VISIÓN GENERAL DEL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109728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DD4BF"/>
                </a:solidFill>
              </a:rPr>
              <a:t>FASE 0</a:t>
            </a:r>
          </a:p>
          <a:p>
            <a:pPr algn="ctr"/>
            <a:r>
              <a:rPr sz="1100">
                <a:solidFill>
                  <a:srgbClr val="F5F0E8"/>
                </a:solidFill>
              </a:rPr>
              <a:t>Infraestructura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645920"/>
            <a:ext cx="3474720" cy="109728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DD4BF"/>
                </a:solidFill>
              </a:rPr>
              <a:t>FASE 1</a:t>
            </a:r>
          </a:p>
          <a:p>
            <a:pPr algn="ctr"/>
            <a:r>
              <a:rPr sz="1100">
                <a:solidFill>
                  <a:srgbClr val="F5F0E8"/>
                </a:solidFill>
              </a:rPr>
              <a:t>Contenido Orgánico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645920"/>
            <a:ext cx="3474720" cy="109728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DD4BF"/>
                </a:solidFill>
              </a:rPr>
              <a:t>FASE 2</a:t>
            </a:r>
          </a:p>
          <a:p>
            <a:pPr algn="ctr"/>
            <a:r>
              <a:rPr sz="1100">
                <a:solidFill>
                  <a:srgbClr val="F5F0E8"/>
                </a:solidFill>
              </a:rPr>
              <a:t>Meta 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3474720" cy="109728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DD4BF"/>
                </a:solidFill>
              </a:rPr>
              <a:t>FASE 3</a:t>
            </a:r>
          </a:p>
          <a:p>
            <a:pPr algn="ctr"/>
            <a:r>
              <a:rPr sz="1100">
                <a:solidFill>
                  <a:srgbClr val="F5F0E8"/>
                </a:solidFill>
              </a:rPr>
              <a:t>Google 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017520"/>
            <a:ext cx="3474720" cy="109728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DD4BF"/>
                </a:solidFill>
              </a:rPr>
              <a:t>FASE 4</a:t>
            </a:r>
          </a:p>
          <a:p>
            <a:pPr algn="ctr"/>
            <a:r>
              <a:rPr sz="1100">
                <a:solidFill>
                  <a:srgbClr val="F5F0E8"/>
                </a:solidFill>
              </a:rPr>
              <a:t>Remarketing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017520"/>
            <a:ext cx="3474720" cy="109728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DD4BF"/>
                </a:solidFill>
              </a:rPr>
              <a:t>FASE 5</a:t>
            </a:r>
          </a:p>
          <a:p>
            <a:pPr algn="ctr"/>
            <a:r>
              <a:rPr sz="1100">
                <a:solidFill>
                  <a:srgbClr val="F5F0E8"/>
                </a:solidFill>
              </a:rPr>
              <a:t>Airbnb &amp; OTAs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D4BF"/>
                </a:solidFill>
              </a:rPr>
              <a:t>Objetivo: Llenar el calendario de reservas · KPIs: Visitas · Leads · CPL · ROAS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FASE 0 — Infraestructura y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Semana 1 · Antes de lanzar cualquier anuncio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50" b="1">
                <a:solidFill>
                  <a:srgbClr val="2DD4BF"/>
                </a:solidFill>
              </a:rPr>
              <a:t>▸ 1. Google Analytics 4 (GA4)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Snippet en &lt;head&gt; → Visitas, origen tráfico, tiempo en página, dispositivos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2. Meta Pixel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Snippet en &lt;head&gt; → Audiencias remarketing, conversiones, CPL en Instagram/Facebook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3. Google Tag Manager (GTM)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Gestiona todos los píxeles desde un solo lugar sin tocar código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4. TikTok Pixel (opcional)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Tracking de visitas TikTok → necesario para campañas TikTok Ads futuras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5. Evento de conversión 'Lead'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JS en el submit del formulario → dispara evento en GA4 + Meta Pixel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6. Verificar dominio en Meta Business Manager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Requerido para correr campañas de conversión en Meta 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</a:rPr>
              <a:t>Herramientas: GA4 (gratis) · Meta Business Suite (gratis) · GTM (gratis)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FASE 1 — Contenido Orgánico y Comunidad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Semanas 1-2 · Sin inversión publicitaria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50" b="1">
                <a:solidFill>
                  <a:srgbClr val="2DD4BF"/>
                </a:solidFill>
              </a:rPr>
              <a:t>▸ 1. Perfil Instagram @VillaLasTerrenas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Fotos profesionales: piscina primero. Bio con enlace a landing.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2. Página de Facebook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Necesaria para correr Meta Ads. Conectar con Instagram.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3. 6-9 posts antes de lanzar ads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Credibilidad: piscina, habitaciones, exterior, playa, atardecer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4. Grupos de Facebook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Viajeros RD, expats, alquiler vacacional. Primeros leads sin coste.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5. Vídeo villa-hero.mp4 → Instagram Reels + TikTok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Alcance orgánico alto. Primeras visitas a la landing.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6. WhatsApp Business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Perfil, catálogo con fotos, mensaje bienvenida automático. Canal directo de cierre.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FASE 2 — Campañas Meta Ads (Instagram + Facebook)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Presupuesto recomendado: 300-500 €/mes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206240"/>
          </a:xfrm>
          <a:prstGeom prst="rect">
            <a:avLst/>
          </a:prstGeom>
          <a:solidFill>
            <a:srgbClr val="081A2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DD4BF"/>
                </a:solidFill>
              </a:rPr>
              <a:t>CAMPAÑA 1 — AWARENESS</a:t>
            </a:r>
          </a:p>
          <a:p>
            <a:r>
              <a:rPr b="0" sz="1000">
                <a:solidFill>
                  <a:srgbClr val="F5F0E8"/>
                </a:solidFill>
              </a:rPr>
              <a:t>Objetivo: Reconocimiento de marca</a:t>
            </a:r>
          </a:p>
          <a:p>
            <a:r>
              <a:rPr b="0" sz="1000">
                <a:solidFill>
                  <a:srgbClr val="F5F0E8"/>
                </a:solidFill>
              </a:rPr>
              <a:t>Formato: Vídeo villa-hero.mp4 + Carrusel fotos</a:t>
            </a:r>
          </a:p>
          <a:p>
            <a:r>
              <a:rPr b="0" sz="1000">
                <a:solidFill>
                  <a:srgbClr val="F5F0E8"/>
                </a:solidFill>
              </a:rPr>
              <a:t>Audiencia: Viajeros, lujo, RD, España, Francia, UK, USA</a:t>
            </a:r>
          </a:p>
          <a:p>
            <a:r>
              <a:rPr b="1" sz="1000">
                <a:solidFill>
                  <a:srgbClr val="CCF4F0"/>
                </a:solidFill>
              </a:rPr>
              <a:t>Qué conseguimos (GA4/Meta):</a:t>
            </a:r>
          </a:p>
          <a:p>
            <a:r>
              <a:rPr b="0" sz="1000">
                <a:solidFill>
                  <a:srgbClr val="F5F0E8"/>
                </a:solidFill>
              </a:rPr>
              <a:t>→ Impresiones, alcance, CTR, coste por clic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94960" cy="4206240"/>
          </a:xfrm>
          <a:prstGeom prst="rect">
            <a:avLst/>
          </a:prstGeom>
          <a:solidFill>
            <a:srgbClr val="081A28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C040"/>
                </a:solidFill>
              </a:rPr>
              <a:t>CAMPAÑA 2 — CONVERSIÓN</a:t>
            </a:r>
          </a:p>
          <a:p>
            <a:r>
              <a:rPr b="0" sz="1000">
                <a:solidFill>
                  <a:srgbClr val="F5F0E8"/>
                </a:solidFill>
              </a:rPr>
              <a:t>Objetivo: Tráfico a landing → Lead (formulario)</a:t>
            </a:r>
          </a:p>
          <a:p>
            <a:r>
              <a:rPr b="0" sz="1000">
                <a:solidFill>
                  <a:srgbClr val="F5F0E8"/>
                </a:solidFill>
              </a:rPr>
              <a:t>Formato: Story vertical vídeo + CTA 'Consultar disponibilidad'</a:t>
            </a:r>
          </a:p>
          <a:p>
            <a:r>
              <a:rPr b="0" sz="1000">
                <a:solidFill>
                  <a:srgbClr val="F5F0E8"/>
                </a:solidFill>
              </a:rPr>
              <a:t>Audiencia: Retargeting visitantes landing (Meta Pixel)</a:t>
            </a:r>
          </a:p>
          <a:p>
            <a:r>
              <a:rPr b="1" sz="1000">
                <a:solidFill>
                  <a:srgbClr val="FFC040"/>
                </a:solidFill>
              </a:rPr>
              <a:t>Qué conseguimos:</a:t>
            </a:r>
          </a:p>
          <a:p>
            <a:r>
              <a:rPr b="0" sz="1000">
                <a:solidFill>
                  <a:srgbClr val="F5F0E8"/>
                </a:solidFill>
              </a:rPr>
              <a:t>→ CPL, número de consultas, tasa de conversión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FASE 3 — Google Ads + SEO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Semana 4 en adelante · Leads de alta intención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2DD4BF"/>
                </a:solidFill>
              </a:rPr>
              <a:t>▸ Google Ads Search — Palabras clave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'villa alquiler Las Terrenas' · 'villa vacacional RD' · 'alquiler piscina privada Samana'  →  5-10€/día</a:t>
            </a:r>
          </a:p>
          <a:p>
            <a:pPr/>
            <a:r>
              <a:rPr sz="1100" b="1">
                <a:solidFill>
                  <a:srgbClr val="2DD4BF"/>
                </a:solidFill>
              </a:rPr>
              <a:t>▸ Qué medir en GA4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Sesiones de pago · Tasa de rebote · Conversiones (leads) · Coste por lead</a:t>
            </a:r>
          </a:p>
          <a:p>
            <a:pPr/>
            <a:r>
              <a:rPr sz="1100" b="1">
                <a:solidFill>
                  <a:srgbClr val="2DD4BF"/>
                </a:solidFill>
              </a:rPr>
              <a:t>▸ Google Display / YouTube Remarketing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Banners 1200x628 + vídeo 15s a visitantes que no reservaron  →  Recordar la villa a indecisos</a:t>
            </a:r>
          </a:p>
          <a:p>
            <a:pPr/>
            <a:r>
              <a:rPr sz="1100" b="1">
                <a:solidFill>
                  <a:srgbClr val="2DD4BF"/>
                </a:solidFill>
              </a:rPr>
              <a:t>▸ SEO Básico (sin coste)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Meta title + description en landing · Schema JSON-LD de alojamiento · Google My Business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FASE 4 — Remarketing: Recuperar Visitantes que No Reservaron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El 97% de visitantes NO reserva en la primera visita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49039" cy="4480560"/>
          </a:xfrm>
          <a:prstGeom prst="rect">
            <a:avLst/>
          </a:prstGeom>
          <a:solidFill>
            <a:srgbClr val="081A28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DD4BF"/>
                </a:solidFill>
              </a:rPr>
              <a:t>META REMARKETING</a:t>
            </a:r>
          </a:p>
          <a:p>
            <a:r>
              <a:rPr b="0" sz="950">
                <a:solidFill>
                  <a:srgbClr val="F5F0E8"/>
                </a:solidFill>
              </a:rPr>
              <a:t>Audiencia: Visitantes últimos 30 días sin formulario enviado</a:t>
            </a:r>
          </a:p>
          <a:p>
            <a:r>
              <a:rPr b="0" sz="950">
                <a:solidFill>
                  <a:srgbClr val="F5F0E8"/>
                </a:solidFill>
              </a:rPr>
              <a:t>Meta Pixel crea esta audiencia automáticamente</a:t>
            </a:r>
          </a:p>
          <a:p>
            <a:r>
              <a:rPr b="0" sz="950">
                <a:solidFill>
                  <a:srgbClr val="F5F0E8"/>
                </a:solidFill>
              </a:rPr>
              <a:t>Anuncio: Carrusel + urgencia ('Solo X semanas en agosto')</a:t>
            </a:r>
          </a:p>
          <a:p>
            <a:r>
              <a:rPr b="0" sz="950">
                <a:solidFill>
                  <a:srgbClr val="F5F0E8"/>
                </a:solidFill>
              </a:rPr>
              <a:t>Presupuesto: 3-5€/día — muy eficiente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749039" cy="4480560"/>
          </a:xfrm>
          <a:prstGeom prst="rect">
            <a:avLst/>
          </a:prstGeom>
          <a:solidFill>
            <a:srgbClr val="081A28"/>
          </a:solidFill>
          <a:ln w="15240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349AFF"/>
                </a:solidFill>
              </a:rPr>
              <a:t>GOOGLE DISPLAY</a:t>
            </a:r>
          </a:p>
          <a:p>
            <a:r>
              <a:rPr b="0" sz="950">
                <a:solidFill>
                  <a:srgbClr val="F5F0E8"/>
                </a:solidFill>
              </a:rPr>
              <a:t>Lista remarketing GA4 → sincronizar con Google Ads</a:t>
            </a:r>
          </a:p>
          <a:p>
            <a:r>
              <a:rPr b="0" sz="950">
                <a:solidFill>
                  <a:srgbClr val="F5F0E8"/>
                </a:solidFill>
              </a:rPr>
              <a:t>Banner foto piscina + '¿Sigues pensando en Las Terrenas?'</a:t>
            </a:r>
          </a:p>
          <a:p>
            <a:r>
              <a:rPr b="0" sz="950">
                <a:solidFill>
                  <a:srgbClr val="F5F0E8"/>
                </a:solidFill>
              </a:rPr>
              <a:t>Red Display Google: millones de webs</a:t>
            </a:r>
          </a:p>
          <a:p>
            <a:r>
              <a:rPr b="0" sz="950">
                <a:solidFill>
                  <a:srgbClr val="F5F0E8"/>
                </a:solidFill>
              </a:rPr>
              <a:t>Coste: muy bajo (pago por clic o por 1000 impresiones)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463040"/>
            <a:ext cx="3749039" cy="4480560"/>
          </a:xfrm>
          <a:prstGeom prst="rect">
            <a:avLst/>
          </a:prstGeom>
          <a:solidFill>
            <a:srgbClr val="081A28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8C42"/>
                </a:solidFill>
              </a:rPr>
              <a:t>EMAIL REMARKETING</a:t>
            </a:r>
          </a:p>
          <a:p>
            <a:r>
              <a:rPr b="0" sz="950">
                <a:solidFill>
                  <a:srgbClr val="F5F0E8"/>
                </a:solidFill>
              </a:rPr>
              <a:t>Secuencia 3 emails: 24h → 3 días → 7 días</a:t>
            </a:r>
          </a:p>
          <a:p>
            <a:r>
              <a:rPr b="0" sz="950">
                <a:solidFill>
                  <a:srgbClr val="F5F0E8"/>
                </a:solidFill>
              </a:rPr>
              <a:t>Email 1: 'Todavía hay fechas disponibles'</a:t>
            </a:r>
          </a:p>
          <a:p>
            <a:r>
              <a:rPr b="0" sz="950">
                <a:solidFill>
                  <a:srgbClr val="F5F0E8"/>
                </a:solidFill>
              </a:rPr>
              <a:t>Email 2: Fotos + testimonios (cuando los tengamos)</a:t>
            </a:r>
          </a:p>
          <a:p>
            <a:r>
              <a:rPr b="0" sz="950">
                <a:solidFill>
                  <a:srgbClr val="F5F0E8"/>
                </a:solidFill>
              </a:rPr>
              <a:t>Email 3: Oferta especial por reserva anticipada</a:t>
            </a:r>
          </a:p>
          <a:p>
            <a:r>
              <a:rPr b="0" sz="950">
                <a:solidFill>
                  <a:srgbClr val="F5F0E8"/>
                </a:solidFill>
              </a:rPr>
              <a:t>Herramienta: Mailchimp (gratis hasta 500 contactos)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D4BF"/>
                </a:solidFill>
              </a:rPr>
              <a:t>Resultado esperado: recuperar 15-25% de visitantes indecisos → más reservas sin más tráfico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FASE 5 — Airbnb, Booking y 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Acceso a millones de viajeros internacionales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2DD4BF"/>
                </a:solidFill>
              </a:rPr>
              <a:t>▸ 1. Perfil Airbnb al 100%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Fotos (piscina primero), descripción, amenities, normas, cancelación, precios por temporada</a:t>
            </a:r>
          </a:p>
          <a:p>
            <a:pPr/>
            <a:r>
              <a:rPr sz="1100" b="1">
                <a:solidFill>
                  <a:srgbClr val="2DD4BF"/>
                </a:solidFill>
              </a:rPr>
              <a:t>▸ 2. Activar Instant Book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Aparece en más búsquedas del algoritmo Airbnb automáticamente</a:t>
            </a:r>
          </a:p>
          <a:p>
            <a:pPr/>
            <a:r>
              <a:rPr sz="1100" b="1">
                <a:solidFill>
                  <a:srgbClr val="2DD4BF"/>
                </a:solidFill>
              </a:rPr>
              <a:t>▸ 3. Primeras 3 reservas → Reseñas 5 estrellas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Clave para el algoritmo: más reseñas = más visibilidad orgánica</a:t>
            </a:r>
          </a:p>
          <a:p>
            <a:pPr/>
            <a:r>
              <a:rPr sz="1100" b="1">
                <a:solidFill>
                  <a:srgbClr val="2DD4BF"/>
                </a:solidFill>
              </a:rPr>
              <a:t>▸ 4. Sincronizar calendario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Landing propia ↔ Airbnb ↔ Booking  →  Herramienta: Lodgify / Hostaway / manual</a:t>
            </a:r>
          </a:p>
          <a:p>
            <a:pPr/>
            <a:r>
              <a:rPr sz="1100" b="1">
                <a:solidFill>
                  <a:srgbClr val="2DD4BF"/>
                </a:solidFill>
              </a:rPr>
              <a:t>▸ 5. Booking.com</a:t>
            </a:r>
          </a:p>
          <a:p>
            <a:pPr lvl="1"/>
            <a:r>
              <a:rPr sz="1050">
                <a:solidFill>
                  <a:srgbClr val="F5F0E8"/>
                </a:solidFill>
              </a:rPr>
              <a:t>   Perfil secundario, mismas fotos, acceso a viajeros europeos de alta conversión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052A20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DD4BF"/>
                </a:solidFill>
              </a:rPr>
              <a:t>Estrategia clave: Airbnb genera visibilidad → convertir a reserva directa (landing) en futuras estancias = sin comisión 15-20%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KPIs — Qué Medir y Con Qué Herramienta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MÉTRICA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417320"/>
            <a:ext cx="292608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HERRAMIENTA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417320"/>
            <a:ext cx="228600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FRECUENCIA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0" y="1417320"/>
            <a:ext cx="256032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OBJETIVO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6576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Visitas a la landing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874519"/>
            <a:ext cx="292608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Google Analytics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874519"/>
            <a:ext cx="22860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Semanal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874519"/>
            <a:ext cx="256032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DD4BF"/>
                </a:solidFill>
              </a:rPr>
              <a:t>&gt; 500/mes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39"/>
            <a:ext cx="365760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Tasa conversión (visita → lead)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377439"/>
            <a:ext cx="292608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GA4 + Formspree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377439"/>
            <a:ext cx="228600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Semanal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377439"/>
            <a:ext cx="256032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DD4BF"/>
                </a:solidFill>
              </a:rPr>
              <a:t>&gt; 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36576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Coste por lead (CPL)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880360"/>
            <a:ext cx="292608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Meta Ads 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880360"/>
            <a:ext cx="22860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Semanal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880360"/>
            <a:ext cx="256032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DD4BF"/>
                </a:solidFill>
              </a:rPr>
              <a:t>&lt; 15 €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83280"/>
            <a:ext cx="365760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ROAS (retorno sobre inversión)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383280"/>
            <a:ext cx="292608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Meta + Google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383280"/>
            <a:ext cx="228600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Mensual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3383280"/>
            <a:ext cx="256032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DD4BF"/>
                </a:solidFill>
              </a:rPr>
              <a:t>&gt; 3x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86200"/>
            <a:ext cx="36576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Alcance orgánico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3886200"/>
            <a:ext cx="292608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Instagram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886200"/>
            <a:ext cx="22860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Semanal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886200"/>
            <a:ext cx="256032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DD4BF"/>
                </a:solidFill>
              </a:rPr>
              <a:t>Crecimiento sostenido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89120"/>
            <a:ext cx="365760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Reservas directas vs OTA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4389120"/>
            <a:ext cx="292608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Manual / Lodgify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4389120"/>
            <a:ext cx="228600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Mensual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389120"/>
            <a:ext cx="2560320" cy="502920"/>
          </a:xfrm>
          <a:prstGeom prst="rect">
            <a:avLst/>
          </a:prstGeom>
          <a:solidFill>
            <a:srgbClr val="0C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DD4BF"/>
                </a:solidFill>
              </a:rPr>
              <a:t>&gt; 30% directas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92040"/>
            <a:ext cx="36576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Email open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4892040"/>
            <a:ext cx="292608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Mailchimp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892040"/>
            <a:ext cx="228600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F5F0E8"/>
                </a:solidFill>
              </a:rPr>
              <a:t>Por campaña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4892040"/>
            <a:ext cx="2560320" cy="502920"/>
          </a:xfrm>
          <a:prstGeom prst="rect">
            <a:avLst/>
          </a:prstGeom>
          <a:solidFill>
            <a:srgbClr val="0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DD4BF"/>
                </a:solidFill>
              </a:rPr>
              <a:t>&gt; 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PRESUPUESTO MENSUAL RECOMENDADO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943600" cy="566928"/>
          </a:xfrm>
          <a:prstGeom prst="rect">
            <a:avLst/>
          </a:prstGeom>
          <a:solidFill>
            <a:srgbClr val="050E18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D1B2A"/>
                </a:solidFill>
              </a:rPr>
              <a:t>Canal / Herramienta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2743200" cy="566928"/>
          </a:xfrm>
          <a:prstGeom prst="rect">
            <a:avLst/>
          </a:prstGeom>
          <a:solidFill>
            <a:srgbClr val="050E18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D1B2A"/>
                </a:solidFill>
              </a:rPr>
              <a:t>Starter (Mes 1-2)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1417320"/>
            <a:ext cx="2743200" cy="566928"/>
          </a:xfrm>
          <a:prstGeom prst="rect">
            <a:avLst/>
          </a:prstGeom>
          <a:solidFill>
            <a:srgbClr val="050E18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D1B2A"/>
                </a:solidFill>
              </a:rPr>
              <a:t>Growth (Mes 3+)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84248"/>
            <a:ext cx="5943600" cy="566928"/>
          </a:xfrm>
          <a:prstGeom prst="rect">
            <a:avLst/>
          </a:prstGeom>
          <a:solidFill>
            <a:srgbClr val="0C2538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Meta Ads (Instagram/Facebook)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84248"/>
            <a:ext cx="2743200" cy="566928"/>
          </a:xfrm>
          <a:prstGeom prst="rect">
            <a:avLst/>
          </a:prstGeom>
          <a:solidFill>
            <a:srgbClr val="0C2538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300 €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984248"/>
            <a:ext cx="2743200" cy="566928"/>
          </a:xfrm>
          <a:prstGeom prst="rect">
            <a:avLst/>
          </a:prstGeom>
          <a:solidFill>
            <a:srgbClr val="0C2538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500 €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51176"/>
            <a:ext cx="5943600" cy="566928"/>
          </a:xfrm>
          <a:prstGeom prst="rect">
            <a:avLst/>
          </a:prstGeom>
          <a:solidFill>
            <a:srgbClr val="081E2E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Google Ads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51176"/>
            <a:ext cx="2743200" cy="566928"/>
          </a:xfrm>
          <a:prstGeom prst="rect">
            <a:avLst/>
          </a:prstGeom>
          <a:solidFill>
            <a:srgbClr val="081E2E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150 €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551176"/>
            <a:ext cx="2743200" cy="566928"/>
          </a:xfrm>
          <a:prstGeom prst="rect">
            <a:avLst/>
          </a:prstGeom>
          <a:solidFill>
            <a:srgbClr val="081E2E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300 €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18104"/>
            <a:ext cx="5943600" cy="566928"/>
          </a:xfrm>
          <a:prstGeom prst="rect">
            <a:avLst/>
          </a:prstGeom>
          <a:solidFill>
            <a:srgbClr val="0C2538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Email/Automatización (Mailchimp)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18104"/>
            <a:ext cx="2743200" cy="566928"/>
          </a:xfrm>
          <a:prstGeom prst="rect">
            <a:avLst/>
          </a:prstGeom>
          <a:solidFill>
            <a:srgbClr val="0C2538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0 € (free tier)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3118104"/>
            <a:ext cx="2743200" cy="566928"/>
          </a:xfrm>
          <a:prstGeom prst="rect">
            <a:avLst/>
          </a:prstGeom>
          <a:solidFill>
            <a:srgbClr val="0C2538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50 €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85032"/>
            <a:ext cx="5943600" cy="566928"/>
          </a:xfrm>
          <a:prstGeom prst="rect">
            <a:avLst/>
          </a:prstGeom>
          <a:solidFill>
            <a:srgbClr val="081E2E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Herramientas analítica (GA4/GTM)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85032"/>
            <a:ext cx="2743200" cy="566928"/>
          </a:xfrm>
          <a:prstGeom prst="rect">
            <a:avLst/>
          </a:prstGeom>
          <a:solidFill>
            <a:srgbClr val="081E2E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0 € (gratis)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685032"/>
            <a:ext cx="2743200" cy="566928"/>
          </a:xfrm>
          <a:prstGeom prst="rect">
            <a:avLst/>
          </a:prstGeom>
          <a:solidFill>
            <a:srgbClr val="081E2E"/>
          </a:solidFill>
          <a:ln w="9525">
            <a:solidFill>
              <a:srgbClr val="1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F5F0E8"/>
                </a:solidFill>
              </a:rPr>
              <a:t>0 €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5943600" cy="566928"/>
          </a:xfrm>
          <a:prstGeom prst="rect">
            <a:avLst/>
          </a:prstGeom>
          <a:solidFill>
            <a:srgbClr val="052A20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4BF"/>
                </a:solidFill>
              </a:rPr>
              <a:t>TOTAL MENSUAL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51960"/>
            <a:ext cx="2743200" cy="566928"/>
          </a:xfrm>
          <a:prstGeom prst="rect">
            <a:avLst/>
          </a:prstGeom>
          <a:solidFill>
            <a:srgbClr val="052A20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4BF"/>
                </a:solidFill>
              </a:rPr>
              <a:t>~ 450-500 €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4251960"/>
            <a:ext cx="2743200" cy="566928"/>
          </a:xfrm>
          <a:prstGeom prst="rect">
            <a:avLst/>
          </a:prstGeom>
          <a:solidFill>
            <a:srgbClr val="052A20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4BF"/>
                </a:solidFill>
              </a:rPr>
              <a:t>~ 850 €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D4BF"/>
                </a:solidFill>
              </a:rPr>
              <a:t>ROI estimado: 1 reserva/semana a 800-1.500€ = 3.200-6.000€/mes  →  Inversión 500€  =  ROAS 6-12x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TIMELINE — 90 DÍAS AL LANZAMIENTO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194560" cy="5669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Semana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6362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0E8"/>
                </a:solidFill>
              </a:rPr>
              <a:t>Instalar GA4 + Meta Pixel + GTM en la landing. Verificar dominio Meta Business Manager.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58568"/>
            <a:ext cx="2194560" cy="566928"/>
          </a:xfrm>
          <a:prstGeom prst="rect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Semana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31343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0E8"/>
                </a:solidFill>
              </a:rPr>
              <a:t>Crear Instagram + Facebook Page. Publicar 6 posts iniciales. Configurar WhatsApp Business.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08376"/>
            <a:ext cx="2194560" cy="5669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Semana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632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0E8"/>
                </a:solidFill>
              </a:rPr>
              <a:t>Lanzar campaña Meta Awareness (vídeo villa). Publicar vídeo en Reels y TikTok.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58183"/>
            <a:ext cx="2194560" cy="5669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Semana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813047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0E8"/>
                </a:solidFill>
              </a:rPr>
              <a:t>Lanzar Google Ads Search. Crear audiencias remarketing en Meta Ads Manager.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07992"/>
            <a:ext cx="2194560" cy="566928"/>
          </a:xfrm>
          <a:prstGeom prst="rect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Mes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56285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0E8"/>
                </a:solidFill>
              </a:rPr>
              <a:t>Optimizar campañas con datos reales. Crear perfil Airbnb al 100%. Lanzar remarketing.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57800"/>
            <a:ext cx="2194560" cy="5669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D1B2A"/>
                </a:solidFill>
              </a:rPr>
              <a:t>Mes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31266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0E8"/>
                </a:solidFill>
              </a:rPr>
              <a:t>Email marketing (leads acumulados). TikTok Ads si hay budget. Reseñas Airbnb. SEO.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CAMBIOS NECESARIOS EN LA LANDING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Qué hay que añadir al HTML para cada canal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50" b="1">
                <a:solidFill>
                  <a:srgbClr val="2DD4BF"/>
                </a:solidFill>
              </a:rPr>
              <a:t>▸ 1. Snippet Google Analytics 4 (GA4)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Copiar Measurement ID G-XXXXXXXX → pegar en &lt;head&gt; de todos los HTMLs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2. Snippet Meta Pixel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Copiar Pixel ID → pegar en &lt;head&gt; → audiencias remarketing automáticas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3. Evento JS 'lead' en el formulario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Al hacer submit: disparar ga('event','generate_lead') + fbq('track','Lead')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4. TikTok Pixel (opcional)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Solo si lanzáis TikTok Ads — snippet en &lt;head&gt;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5. Aviso legal de cookies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Con píxeles de tracking → banner cookies + política de privacidad obligatoria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6. Meta tags SEO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&lt;title&gt;, &lt;meta description&gt;, &lt;og:image&gt; para compartir en redes sociales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7. Schema JSON-LD LodgingBusiness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SEO: Google entiende que es un alojamiento → puede aparecer en rich results</a:t>
            </a:r>
          </a:p>
          <a:p>
            <a:pPr/>
            <a:r>
              <a:rPr sz="1050" b="1">
                <a:solidFill>
                  <a:srgbClr val="2DD4BF"/>
                </a:solidFill>
              </a:rPr>
              <a:t>▸ 8. WhatsApp number definitivo</a:t>
            </a:r>
          </a:p>
          <a:p>
            <a:pPr lvl="1"/>
            <a:r>
              <a:rPr sz="1000">
                <a:solidFill>
                  <a:srgbClr val="F5F0E8"/>
                </a:solidFill>
              </a:rPr>
              <a:t>   Reemplazar TU_NUMERO_AQUI en todos los HTMLs con número real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PRÓXIMOS PASOS — ESTA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</a:rPr>
              <a:t>Acciones inmediatas para arrancar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99616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CEO aprueba versión de landing → publicar en dominio propio o Netlify Drop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66544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Crear cuenta Google Analytics 4 → copiar Measurement ID (G-XXXXXXXX)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96896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33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Crear Meta Business Manager → crear Meta Pixel → copiar Pixel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63824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Añadir snippets GA4 + Meta Pixel a todos los HTMLs de la landing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30752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6732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Crear perfil Instagram @VillaLasTerrenas con las fotos profesionales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34256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Publicar villa-hero.mp4 en Instagram Reels y TikTok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64608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01184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Definir presupuesto mensual de ads con el CEO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31536"/>
            <a:ext cx="475488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D1B2A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0E8"/>
                </a:solidFill>
              </a:rPr>
              <a:t>Reemplazar TU_NUMERO_AQUI (WhatsApp) y TU_ID_AQUI (Formspree) en los HTMLs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